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74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25" d="100"/>
          <a:sy n="25" d="100"/>
        </p:scale>
        <p:origin x="2170" y="13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2C4BF-2531-428D-B861-D7A7B001D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83595F-1916-4DF6-B644-5EB295729E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1E2DF-E046-440A-95C0-3223D8F06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5CEF-E2F6-4338-A22B-6B253380EEC8}" type="datetimeFigureOut">
              <a:rPr lang="en-GB" smtClean="0"/>
              <a:t>04/11/2020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51A204-B457-492C-91F4-EB9B2F2A8A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A9AC28-5129-4CEC-9251-1885C3984D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FDD8-5D87-46A3-908C-99D303342E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514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D0B2E-B2D7-422D-B0F8-8B9C326658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32FDB-22AB-4E62-84D7-6C3966158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64AD3-BEE3-4E6E-9ADC-DC6C7CE0B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5CEF-E2F6-4338-A22B-6B253380EEC8}" type="datetimeFigureOut">
              <a:rPr lang="en-GB" smtClean="0"/>
              <a:t>04/11/2020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B3A189-9591-44F8-8AAE-9974ECEF8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1DBD3C-1ACF-4AC1-824A-970C3CDED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FDD8-5D87-46A3-908C-99D303342E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4959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E1EB1-6BA2-4873-B003-F9020552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D46B72-AC5C-46A0-A775-9092CBB947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9BB0F-FF81-48F5-BFFD-E4E0C88C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5CEF-E2F6-4338-A22B-6B253380EEC8}" type="datetimeFigureOut">
              <a:rPr lang="en-GB" smtClean="0"/>
              <a:t>04/11/2020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3C2AF0-9422-407F-BA5A-0C049D30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06554-C324-4BD1-8B20-E5FA9471D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FDD8-5D87-46A3-908C-99D303342E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6283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802F3B-F1C5-4F6E-AF24-38DC6B9F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3CC5E8-A705-46D2-93AD-591F415500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446791-0BDB-4B52-AED9-2398FD1C8C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5C34D6-6C24-4805-A87D-DD60892D4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5CEF-E2F6-4338-A22B-6B253380EEC8}" type="datetimeFigureOut">
              <a:rPr lang="en-GB" smtClean="0"/>
              <a:t>04/11/2020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906257-215D-4A7E-9105-C4C18B8DA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B0F129-A810-41F8-A083-73DE485D8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FDD8-5D87-46A3-908C-99D303342E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50631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74CA0-517C-4831-8D81-B14908B56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A31A443-1CA2-4A4D-A6FB-3F01B7F4D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768D35-7067-4A71-BCA3-E89C5E840C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E590A2-03DB-4CDB-B014-4E02AD63F1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67DE67-BAC6-4C9B-9454-826702B3C4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351DAB-9B85-4A59-BC89-5288300433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5CEF-E2F6-4338-A22B-6B253380EEC8}" type="datetimeFigureOut">
              <a:rPr lang="en-GB" smtClean="0"/>
              <a:t>04/11/2020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B45DB1-3368-4736-BC7F-D70059213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6F5681-BBEA-4386-922E-FC5D7B5DE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FDD8-5D87-46A3-908C-99D303342E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13258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F27A8-C9E5-47EB-9198-73F75258CA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0F0B819-192B-46C3-A356-C8BC53140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5CEF-E2F6-4338-A22B-6B253380EEC8}" type="datetimeFigureOut">
              <a:rPr lang="en-GB" smtClean="0"/>
              <a:t>04/11/2020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0696FD-6B90-470E-90F3-6E2682BDB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DDF9FA-6513-44F5-9117-84B9D7F62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FDD8-5D87-46A3-908C-99D303342E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1030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E96FFC-9F10-47BF-9C47-C584E42BF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5CEF-E2F6-4338-A22B-6B253380EEC8}" type="datetimeFigureOut">
              <a:rPr lang="en-GB" smtClean="0"/>
              <a:t>04/11/2020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9881281-D737-4199-8A87-A32147618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702F2-49C4-491A-8A17-E253672AD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FDD8-5D87-46A3-908C-99D303342E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896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2A098C-4F59-4502-A987-F4742524C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D047ED-ECA8-4A40-A012-D06F96995A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09031CF-B4D6-4591-935C-147B0B5262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7F15D6-F9DA-4B33-95DD-9873059FDB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5CEF-E2F6-4338-A22B-6B253380EEC8}" type="datetimeFigureOut">
              <a:rPr lang="en-GB" smtClean="0"/>
              <a:t>04/11/2020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2558A-B883-418D-9DC4-FB012BA0A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C1C340-B4E0-42FD-A300-832047068E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FDD8-5D87-46A3-908C-99D303342E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7137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6ADCD-DC7A-411B-9349-90114078CC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91AB285-5394-449C-BF03-FB1304727F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3DFF03A-7D9C-4DD4-BE70-5955DBAB7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F271AA-F927-4678-AD32-266C0632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5CEF-E2F6-4338-A22B-6B253380EEC8}" type="datetimeFigureOut">
              <a:rPr lang="en-GB" smtClean="0"/>
              <a:t>04/11/2020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AC489F-95DF-44F0-885E-49EB76EB67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7EE77-9A6A-4E25-B8BE-FB0D1AFC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FDD8-5D87-46A3-908C-99D303342E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5856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7A9C4-E263-4FE5-99CA-DBC860E3D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A0EA38-9C1B-434E-980F-EBA7FF051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F48F2-C8AA-4028-B018-109638A444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5CEF-E2F6-4338-A22B-6B253380EEC8}" type="datetimeFigureOut">
              <a:rPr lang="en-GB" smtClean="0"/>
              <a:t>04/11/2020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606F0E-0397-436F-84E5-E2E442C20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ABDC28-B23D-4B20-9BD3-257533581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FDD8-5D87-46A3-908C-99D303342E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7580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2F1B0E-6822-47EB-9D49-2E0036227F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8ED37B-0937-4ED6-AA9D-7E68D8F4E6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9A531-88AD-417E-BE27-0D027E517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B5CEF-E2F6-4338-A22B-6B253380EEC8}" type="datetimeFigureOut">
              <a:rPr lang="en-GB" smtClean="0"/>
              <a:t>04/11/2020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A8B4A1-AEEC-4057-9148-7B53262EB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7FF01E-CE55-4B73-AEC9-82AF978083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E1FDD8-5D87-46A3-908C-99D303342E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72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1B18F3A-A052-4E70-9013-6FEDA23F4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4F8AF-7A99-4545-8EA9-DC07C1AE1A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AA42A4-73B6-4C90-99F0-9290C3792B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DB5CEF-E2F6-4338-A22B-6B253380EEC8}" type="datetimeFigureOut">
              <a:rPr lang="en-GB" smtClean="0"/>
              <a:t>04/11/2020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1985E8-6D79-49E1-A8BA-21C230563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1CBBF-CED9-42DE-AB80-2704C18BE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E1FDD8-5D87-46A3-908C-99D303342E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2394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12" Type="http://schemas.openxmlformats.org/officeDocument/2006/relationships/image" Target="../media/image2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5" Type="http://schemas.openxmlformats.org/officeDocument/2006/relationships/image" Target="../media/image2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Relationship Id="rId1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137">
            <a:extLst>
              <a:ext uri="{FF2B5EF4-FFF2-40B4-BE49-F238E27FC236}">
                <a16:creationId xmlns:a16="http://schemas.microsoft.com/office/drawing/2014/main" id="{5F8E1594-2BD4-45DF-8138-DB11F56970F6}"/>
              </a:ext>
            </a:extLst>
          </p:cNvPr>
          <p:cNvGrpSpPr/>
          <p:nvPr/>
        </p:nvGrpSpPr>
        <p:grpSpPr>
          <a:xfrm>
            <a:off x="381000" y="53271"/>
            <a:ext cx="8443455" cy="5295403"/>
            <a:chOff x="381000" y="53271"/>
            <a:chExt cx="8443455" cy="5295403"/>
          </a:xfrm>
        </p:grpSpPr>
        <p:grpSp>
          <p:nvGrpSpPr>
            <p:cNvPr id="131" name="Group 130">
              <a:extLst>
                <a:ext uri="{FF2B5EF4-FFF2-40B4-BE49-F238E27FC236}">
                  <a16:creationId xmlns:a16="http://schemas.microsoft.com/office/drawing/2014/main" id="{765A1AF5-3D4E-4DF5-A331-EE65D63FF863}"/>
                </a:ext>
              </a:extLst>
            </p:cNvPr>
            <p:cNvGrpSpPr/>
            <p:nvPr/>
          </p:nvGrpSpPr>
          <p:grpSpPr>
            <a:xfrm>
              <a:off x="535008" y="581024"/>
              <a:ext cx="2257250" cy="4767650"/>
              <a:chOff x="132794" y="442525"/>
              <a:chExt cx="2257250" cy="4767650"/>
            </a:xfrm>
          </p:grpSpPr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A702BB4D-38C9-4ECF-A5C4-F8B05F1DC29F}"/>
                  </a:ext>
                </a:extLst>
              </p:cNvPr>
              <p:cNvGrpSpPr/>
              <p:nvPr/>
            </p:nvGrpSpPr>
            <p:grpSpPr>
              <a:xfrm>
                <a:off x="132795" y="442525"/>
                <a:ext cx="2257249" cy="3677424"/>
                <a:chOff x="313770" y="442525"/>
                <a:chExt cx="2257249" cy="3677424"/>
              </a:xfrm>
            </p:grpSpPr>
            <p:sp>
              <p:nvSpPr>
                <p:cNvPr id="4" name="Rectangle 3">
                  <a:extLst>
                    <a:ext uri="{FF2B5EF4-FFF2-40B4-BE49-F238E27FC236}">
                      <a16:creationId xmlns:a16="http://schemas.microsoft.com/office/drawing/2014/main" id="{2131EFD8-6253-4E6B-BD22-73C940C5F3CD}"/>
                    </a:ext>
                  </a:extLst>
                </p:cNvPr>
                <p:cNvSpPr/>
                <p:nvPr/>
              </p:nvSpPr>
              <p:spPr>
                <a:xfrm>
                  <a:off x="561975" y="581025"/>
                  <a:ext cx="1447800" cy="3400425"/>
                </a:xfrm>
                <a:prstGeom prst="rect">
                  <a:avLst/>
                </a:prstGeom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A87F4571-7E98-4E6B-B596-5319814AEE7E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09775" y="3842950"/>
                      <a:ext cx="532903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𝑚𝑖𝑛</m:t>
                                </m:r>
                              </m:sub>
                            </m:sSub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>
                <p:sp>
                  <p:nvSpPr>
                    <p:cNvPr id="5" name="TextBox 4">
                      <a:extLst>
                        <a:ext uri="{FF2B5EF4-FFF2-40B4-BE49-F238E27FC236}">
                          <a16:creationId xmlns:a16="http://schemas.microsoft.com/office/drawing/2014/main" id="{A87F4571-7E98-4E6B-B596-5319814AEE7E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09775" y="3842950"/>
                      <a:ext cx="532903" cy="276999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l="-10345" r="-5747" b="-17391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4C23380F-04A6-4069-90E5-13B2C276A89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009775" y="442525"/>
                      <a:ext cx="561244" cy="276999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  <m:r>
                                  <a:rPr lang="en-GB" b="0" i="1" smtClean="0">
                                    <a:latin typeface="Cambria Math" panose="02040503050406030204" pitchFamily="18" charset="0"/>
                                  </a:rPr>
                                  <m:t>𝑎𝑥</m:t>
                                </m:r>
                              </m:sub>
                            </m:sSub>
                          </m:oMath>
                        </m:oMathPara>
                      </a14:m>
                      <a:endParaRPr lang="en-GB" dirty="0"/>
                    </a:p>
                  </p:txBody>
                </p:sp>
              </mc:Choice>
              <mc:Fallback>
                <p:sp>
                  <p:nvSpPr>
                    <p:cNvPr id="7" name="TextBox 6">
                      <a:extLst>
                        <a:ext uri="{FF2B5EF4-FFF2-40B4-BE49-F238E27FC236}">
                          <a16:creationId xmlns:a16="http://schemas.microsoft.com/office/drawing/2014/main" id="{4C23380F-04A6-4069-90E5-13B2C276A893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009775" y="442525"/>
                      <a:ext cx="561244" cy="276999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l="-9783" r="-1087" b="-1087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0" name="Rectangle 9">
                      <a:extLst>
                        <a:ext uri="{FF2B5EF4-FFF2-40B4-BE49-F238E27FC236}">
                          <a16:creationId xmlns:a16="http://schemas.microsoft.com/office/drawing/2014/main" id="{B9D067B3-5ECC-4DA1-8485-EFD4B63DEAA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3770" y="1124738"/>
                      <a:ext cx="1944210" cy="399262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  <a:effectLst>
                      <a:glow rad="50800">
                        <a:srgbClr val="002060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𝑠𝑢𝑏𝑗𝑒𝑐𝑡</m:t>
                                </m:r>
                              </m:sub>
                            </m:s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sSub>
                              <m:sSubPr>
                                <m:ctrlPr>
                                  <a:rPr lang="en-GB" b="1" i="1" smtClean="0">
                                    <a:solidFill>
                                      <a:schemeClr val="tx1"/>
                                    </a:solidFill>
                                  </a:rPr>
                                </m:ctrlPr>
                              </m:sSubPr>
                              <m:e>
                                <m:r>
                                  <a:rPr lang="en-GB" b="1" i="1">
                                    <a:solidFill>
                                      <a:schemeClr val="tx1"/>
                                    </a:solidFill>
                                  </a:rPr>
                                  <m:t>𝑮</m:t>
                                </m:r>
                              </m:e>
                              <m:sub>
                                <m:r>
                                  <a:rPr lang="en-GB" b="1" i="1">
                                    <a:solidFill>
                                      <a:schemeClr val="tx1"/>
                                    </a:solidFill>
                                  </a:rPr>
                                  <m:t>𝟏</m:t>
                                </m:r>
                              </m:sub>
                            </m:sSub>
                          </m:oMath>
                        </m:oMathPara>
                      </a14:m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0" name="Rectangle 9">
                      <a:extLst>
                        <a:ext uri="{FF2B5EF4-FFF2-40B4-BE49-F238E27FC236}">
                          <a16:creationId xmlns:a16="http://schemas.microsoft.com/office/drawing/2014/main" id="{B9D067B3-5ECC-4DA1-8485-EFD4B63DEAAF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3770" y="1124738"/>
                      <a:ext cx="1944210" cy="39926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/>
                      </a:stretch>
                    </a:blipFill>
                    <a:effectLst>
                      <a:glow rad="50800">
                        <a:srgbClr val="002060"/>
                      </a:glow>
                    </a:effectLst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2" name="Straight Arrow Connector 11">
                  <a:extLst>
                    <a:ext uri="{FF2B5EF4-FFF2-40B4-BE49-F238E27FC236}">
                      <a16:creationId xmlns:a16="http://schemas.microsoft.com/office/drawing/2014/main" id="{58A95FE2-7900-43A0-9BA0-F14668C3999B}"/>
                    </a:ext>
                  </a:extLst>
                </p:cNvPr>
                <p:cNvCxnSpPr/>
                <p:nvPr/>
              </p:nvCxnSpPr>
              <p:spPr>
                <a:xfrm>
                  <a:off x="2457450" y="833824"/>
                  <a:ext cx="0" cy="956876"/>
                </a:xfrm>
                <a:prstGeom prst="straightConnector1">
                  <a:avLst/>
                </a:prstGeom>
                <a:ln w="44450">
                  <a:solidFill>
                    <a:srgbClr val="002060"/>
                  </a:solidFill>
                  <a:headEnd type="triangle"/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id="{D630AB76-C7AC-4F7F-A33F-E4001DAF40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3770" y="2553094"/>
                      <a:ext cx="1944210" cy="399262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solidFill>
                        <a:srgbClr val="FF0000"/>
                      </a:solidFill>
                    </a:ln>
                    <a:effectLst>
                      <a:glow rad="50800">
                        <a:srgbClr val="C00000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0" i="1" smtClean="0">
                                        <a:solidFill>
                                          <a:schemeClr val="tx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𝐵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𝑜𝑝𝑝𝑜𝑛𝑒𝑛𝑡𝑠</m:t>
                                </m:r>
                              </m:sub>
                            </m:sSub>
                            <m:r>
                              <a:rPr lang="en-GB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:</m:t>
                            </m:r>
                            <m:sSub>
                              <m:sSubPr>
                                <m:ctrlPr>
                                  <a:rPr lang="en-GB" b="1" i="1">
                                    <a:solidFill>
                                      <a:schemeClr val="tx1"/>
                                    </a:solidFill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b="1" i="1">
                                        <a:solidFill>
                                          <a:schemeClr val="tx1"/>
                                        </a:solidFill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1" i="1">
                                        <a:solidFill>
                                          <a:schemeClr val="tx1"/>
                                        </a:solidFill>
                                      </a:rPr>
                                      <m:t>𝑮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b="1" i="1">
                                    <a:solidFill>
                                      <a:schemeClr val="tx1"/>
                                    </a:solidFill>
                                  </a:rPr>
                                  <m:t>𝒏</m:t>
                                </m:r>
                              </m:sub>
                            </m:sSub>
                          </m:oMath>
                        </m:oMathPara>
                      </a14:m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</mc:Choice>
              <mc:Fallback>
                <p:sp>
                  <p:nvSpPr>
                    <p:cNvPr id="14" name="Rectangle 13">
                      <a:extLst>
                        <a:ext uri="{FF2B5EF4-FFF2-40B4-BE49-F238E27FC236}">
                          <a16:creationId xmlns:a16="http://schemas.microsoft.com/office/drawing/2014/main" id="{D630AB76-C7AC-4F7F-A33F-E4001DAF40C0}"/>
                        </a:ext>
                      </a:extLst>
                    </p:cNvPr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3770" y="2553094"/>
                      <a:ext cx="1944210" cy="39926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/>
                      </a:stretch>
                    </a:blipFill>
                    <a:ln>
                      <a:solidFill>
                        <a:srgbClr val="FF0000"/>
                      </a:solidFill>
                    </a:ln>
                    <a:effectLst>
                      <a:glow rad="50800">
                        <a:srgbClr val="C00000"/>
                      </a:glow>
                    </a:effectLst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1F3A3F99-A01C-47F5-A4CA-CA16C16638E3}"/>
                  </a:ext>
                </a:extLst>
              </p:cNvPr>
              <p:cNvSpPr/>
              <p:nvPr/>
            </p:nvSpPr>
            <p:spPr>
              <a:xfrm>
                <a:off x="132794" y="3981449"/>
                <a:ext cx="2257249" cy="1228726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30" name="Group 129">
              <a:extLst>
                <a:ext uri="{FF2B5EF4-FFF2-40B4-BE49-F238E27FC236}">
                  <a16:creationId xmlns:a16="http://schemas.microsoft.com/office/drawing/2014/main" id="{0AA27945-F7BC-4891-8BB4-58AB03FFFCF8}"/>
                </a:ext>
              </a:extLst>
            </p:cNvPr>
            <p:cNvGrpSpPr/>
            <p:nvPr/>
          </p:nvGrpSpPr>
          <p:grpSpPr>
            <a:xfrm>
              <a:off x="6880244" y="581024"/>
              <a:ext cx="1944211" cy="4728033"/>
              <a:chOff x="6880244" y="581024"/>
              <a:chExt cx="1944211" cy="4728033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F393D870-D8E6-4A67-B81B-3E9C31BFA6CE}"/>
                  </a:ext>
                </a:extLst>
              </p:cNvPr>
              <p:cNvGrpSpPr/>
              <p:nvPr/>
            </p:nvGrpSpPr>
            <p:grpSpPr>
              <a:xfrm>
                <a:off x="6880244" y="581024"/>
                <a:ext cx="1944211" cy="4728033"/>
                <a:chOff x="6880244" y="581024"/>
                <a:chExt cx="1944211" cy="4728033"/>
              </a:xfrm>
            </p:grpSpPr>
            <p:sp>
              <p:nvSpPr>
                <p:cNvPr id="109" name="Rectangle 108">
                  <a:extLst>
                    <a:ext uri="{FF2B5EF4-FFF2-40B4-BE49-F238E27FC236}">
                      <a16:creationId xmlns:a16="http://schemas.microsoft.com/office/drawing/2014/main" id="{73B3CC00-4730-4F21-898B-7A9313D328E5}"/>
                    </a:ext>
                  </a:extLst>
                </p:cNvPr>
                <p:cNvSpPr/>
                <p:nvPr/>
              </p:nvSpPr>
              <p:spPr>
                <a:xfrm>
                  <a:off x="7131222" y="581024"/>
                  <a:ext cx="1447800" cy="3400425"/>
                </a:xfrm>
                <a:prstGeom prst="rect">
                  <a:avLst/>
                </a:prstGeom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11" name="Rectangle 110">
                  <a:extLst>
                    <a:ext uri="{FF2B5EF4-FFF2-40B4-BE49-F238E27FC236}">
                      <a16:creationId xmlns:a16="http://schemas.microsoft.com/office/drawing/2014/main" id="{E7E77A97-8370-42BD-B07D-37D971714196}"/>
                    </a:ext>
                  </a:extLst>
                </p:cNvPr>
                <p:cNvSpPr/>
                <p:nvPr/>
              </p:nvSpPr>
              <p:spPr>
                <a:xfrm>
                  <a:off x="6880244" y="2025243"/>
                  <a:ext cx="1944210" cy="190106"/>
                </a:xfrm>
                <a:prstGeom prst="rect">
                  <a:avLst/>
                </a:prstGeom>
                <a:solidFill>
                  <a:srgbClr val="00B0F0"/>
                </a:solidFill>
                <a:effectLst>
                  <a:glow rad="50800">
                    <a:srgbClr val="002060"/>
                  </a:glo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13" name="Rectangle 112">
                  <a:extLst>
                    <a:ext uri="{FF2B5EF4-FFF2-40B4-BE49-F238E27FC236}">
                      <a16:creationId xmlns:a16="http://schemas.microsoft.com/office/drawing/2014/main" id="{76510970-D3EB-4D40-B1AC-70740A5CE950}"/>
                    </a:ext>
                  </a:extLst>
                </p:cNvPr>
                <p:cNvSpPr/>
                <p:nvPr/>
              </p:nvSpPr>
              <p:spPr>
                <a:xfrm>
                  <a:off x="6880244" y="1095177"/>
                  <a:ext cx="1944210" cy="190106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FF0000"/>
                  </a:solidFill>
                </a:ln>
                <a:effectLst>
                  <a:glow rad="50800">
                    <a:srgbClr val="C00000"/>
                  </a:glo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0CC96CF4-618E-488D-8BE1-8A7C19092489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80245" y="4108728"/>
                      <a:ext cx="1944210" cy="120032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dirty="0"/>
                        <a:t>Subject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a14:m>
                      <a:r>
                        <a:rPr lang="en-GB" dirty="0"/>
                        <a:t> loses the auction and makes no profit or loss</a:t>
                      </a:r>
                      <a:endParaRPr lang="en-GB" b="1" dirty="0"/>
                    </a:p>
                  </p:txBody>
                </p:sp>
              </mc:Choice>
              <mc:Fallback>
                <p:sp>
                  <p:nvSpPr>
                    <p:cNvPr id="117" name="TextBox 116">
                      <a:extLst>
                        <a:ext uri="{FF2B5EF4-FFF2-40B4-BE49-F238E27FC236}">
                          <a16:creationId xmlns:a16="http://schemas.microsoft.com/office/drawing/2014/main" id="{0CC96CF4-618E-488D-8BE1-8A7C19092489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880245" y="4108728"/>
                      <a:ext cx="1944210" cy="1200329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l="-2821" t="-2538" r="-2194" b="-710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7E8D52AB-7E6F-4C82-A48C-014E137BECFA}"/>
                  </a:ext>
                </a:extLst>
              </p:cNvPr>
              <p:cNvSpPr/>
              <p:nvPr/>
            </p:nvSpPr>
            <p:spPr>
              <a:xfrm>
                <a:off x="6880244" y="3981449"/>
                <a:ext cx="1944210" cy="13276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grpSp>
          <p:nvGrpSpPr>
            <p:cNvPr id="129" name="Group 128">
              <a:extLst>
                <a:ext uri="{FF2B5EF4-FFF2-40B4-BE49-F238E27FC236}">
                  <a16:creationId xmlns:a16="http://schemas.microsoft.com/office/drawing/2014/main" id="{2D8CCC01-63D2-400F-A47F-8B72A7B2BEC3}"/>
                </a:ext>
              </a:extLst>
            </p:cNvPr>
            <p:cNvGrpSpPr/>
            <p:nvPr/>
          </p:nvGrpSpPr>
          <p:grpSpPr>
            <a:xfrm>
              <a:off x="3864146" y="581024"/>
              <a:ext cx="1944211" cy="4737332"/>
              <a:chOff x="3861373" y="581024"/>
              <a:chExt cx="1944211" cy="4737332"/>
            </a:xfrm>
          </p:grpSpPr>
          <p:grpSp>
            <p:nvGrpSpPr>
              <p:cNvPr id="118" name="Group 117">
                <a:extLst>
                  <a:ext uri="{FF2B5EF4-FFF2-40B4-BE49-F238E27FC236}">
                    <a16:creationId xmlns:a16="http://schemas.microsoft.com/office/drawing/2014/main" id="{C39A75EF-19B6-4049-ABA6-C030ED64D538}"/>
                  </a:ext>
                </a:extLst>
              </p:cNvPr>
              <p:cNvGrpSpPr/>
              <p:nvPr/>
            </p:nvGrpSpPr>
            <p:grpSpPr>
              <a:xfrm>
                <a:off x="3861373" y="581024"/>
                <a:ext cx="1944211" cy="4737332"/>
                <a:chOff x="3861373" y="581024"/>
                <a:chExt cx="1944211" cy="4737332"/>
              </a:xfrm>
            </p:grpSpPr>
            <p:sp>
              <p:nvSpPr>
                <p:cNvPr id="102" name="Rectangle 101">
                  <a:extLst>
                    <a:ext uri="{FF2B5EF4-FFF2-40B4-BE49-F238E27FC236}">
                      <a16:creationId xmlns:a16="http://schemas.microsoft.com/office/drawing/2014/main" id="{24E00641-D5EE-446B-BBB0-B51DF5143BD8}"/>
                    </a:ext>
                  </a:extLst>
                </p:cNvPr>
                <p:cNvSpPr/>
                <p:nvPr/>
              </p:nvSpPr>
              <p:spPr>
                <a:xfrm>
                  <a:off x="4112351" y="581024"/>
                  <a:ext cx="1447800" cy="3400425"/>
                </a:xfrm>
                <a:prstGeom prst="rect">
                  <a:avLst/>
                </a:prstGeom>
                <a:effectLst>
                  <a:glow rad="63500">
                    <a:schemeClr val="accent3">
                      <a:satMod val="175000"/>
                      <a:alpha val="40000"/>
                    </a:schemeClr>
                  </a:glow>
                </a:effectLst>
              </p:spPr>
              <p:style>
                <a:lnRef idx="2">
                  <a:schemeClr val="accent3">
                    <a:shade val="50000"/>
                  </a:schemeClr>
                </a:lnRef>
                <a:fillRef idx="1">
                  <a:schemeClr val="accent3"/>
                </a:fillRef>
                <a:effectRef idx="0">
                  <a:schemeClr val="accent3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  <p:sp>
              <p:nvSpPr>
                <p:cNvPr id="103" name="Rectangle 102">
                  <a:extLst>
                    <a:ext uri="{FF2B5EF4-FFF2-40B4-BE49-F238E27FC236}">
                      <a16:creationId xmlns:a16="http://schemas.microsoft.com/office/drawing/2014/main" id="{003E60F4-F861-49C3-8516-39DD92F72FAD}"/>
                    </a:ext>
                  </a:extLst>
                </p:cNvPr>
                <p:cNvSpPr/>
                <p:nvPr/>
              </p:nvSpPr>
              <p:spPr>
                <a:xfrm>
                  <a:off x="3861373" y="2025243"/>
                  <a:ext cx="1944210" cy="190106"/>
                </a:xfrm>
                <a:prstGeom prst="rect">
                  <a:avLst/>
                </a:prstGeom>
                <a:solidFill>
                  <a:srgbClr val="00B0F0"/>
                </a:solidFill>
                <a:effectLst>
                  <a:glow rad="50800">
                    <a:srgbClr val="002060"/>
                  </a:glo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04" name="Rectangle 103">
                  <a:extLst>
                    <a:ext uri="{FF2B5EF4-FFF2-40B4-BE49-F238E27FC236}">
                      <a16:creationId xmlns:a16="http://schemas.microsoft.com/office/drawing/2014/main" id="{18CFFFF9-EF49-46AC-B412-D4AA9EBD327D}"/>
                    </a:ext>
                  </a:extLst>
                </p:cNvPr>
                <p:cNvSpPr/>
                <p:nvPr/>
              </p:nvSpPr>
              <p:spPr>
                <a:xfrm>
                  <a:off x="3861373" y="2857302"/>
                  <a:ext cx="1944210" cy="190106"/>
                </a:xfrm>
                <a:prstGeom prst="rect">
                  <a:avLst/>
                </a:prstGeom>
                <a:solidFill>
                  <a:schemeClr val="accent2"/>
                </a:solidFill>
                <a:ln>
                  <a:solidFill>
                    <a:srgbClr val="FF0000"/>
                  </a:solidFill>
                </a:ln>
                <a:effectLst>
                  <a:glow rad="50800">
                    <a:srgbClr val="C00000"/>
                  </a:glow>
                </a:effectLst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dirty="0">
                    <a:solidFill>
                      <a:schemeClr val="tx1"/>
                    </a:solidFill>
                  </a:endParaRP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A160E341-63F1-4C86-889E-50E640757CC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861374" y="4108729"/>
                      <a:ext cx="1944210" cy="1209627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dirty="0"/>
                        <a:t>Subject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𝑺</m:t>
                              </m:r>
                            </m:e>
                            <m: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</m:oMath>
                      </a14:m>
                      <a:r>
                        <a:rPr lang="en-GB" dirty="0"/>
                        <a:t> win the auction and makes a profit of </a:t>
                      </a:r>
                      <a14:m>
                        <m:oMath xmlns:m="http://schemas.openxmlformats.org/officeDocument/2006/math">
                          <m:sSub>
                            <m:sSub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𝑮</m:t>
                              </m:r>
                            </m:e>
                            <m: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</m:sub>
                          </m:sSub>
                          <m:r>
                            <a:rPr lang="en-GB" b="1" i="1" smtClean="0">
                              <a:latin typeface="Cambria Math" panose="02040503050406030204" pitchFamily="18" charset="0"/>
                            </a:rPr>
                            <m:t>− </m:t>
                          </m:r>
                          <m:sSub>
                            <m:sSubPr>
                              <m:ctrlP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b>
                          </m:sSub>
                        </m:oMath>
                      </a14:m>
                      <a:endParaRPr lang="en-GB" b="1" dirty="0"/>
                    </a:p>
                  </p:txBody>
                </p:sp>
              </mc:Choice>
              <mc:Fallback>
                <p:sp>
                  <p:nvSpPr>
                    <p:cNvPr id="115" name="TextBox 114">
                      <a:extLst>
                        <a:ext uri="{FF2B5EF4-FFF2-40B4-BE49-F238E27FC236}">
                          <a16:creationId xmlns:a16="http://schemas.microsoft.com/office/drawing/2014/main" id="{A160E341-63F1-4C86-889E-50E640757CCA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61374" y="4108729"/>
                      <a:ext cx="1944210" cy="1209627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l="-2821" t="-2525" r="-4389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GB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28" name="Rectangle 127">
                <a:extLst>
                  <a:ext uri="{FF2B5EF4-FFF2-40B4-BE49-F238E27FC236}">
                    <a16:creationId xmlns:a16="http://schemas.microsoft.com/office/drawing/2014/main" id="{5F047A68-167C-45F8-9B54-88FBD4D4F1CE}"/>
                  </a:ext>
                </a:extLst>
              </p:cNvPr>
              <p:cNvSpPr/>
              <p:nvPr/>
            </p:nvSpPr>
            <p:spPr>
              <a:xfrm>
                <a:off x="3861373" y="3981449"/>
                <a:ext cx="1944210" cy="132760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0A28DAA7-4C59-407C-9063-AD8B5710EC38}"/>
                </a:ext>
              </a:extLst>
            </p:cNvPr>
            <p:cNvSpPr txBox="1"/>
            <p:nvPr/>
          </p:nvSpPr>
          <p:spPr>
            <a:xfrm>
              <a:off x="381000" y="53271"/>
              <a:ext cx="4000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/>
                <a:t>A</a:t>
              </a:r>
            </a:p>
          </p:txBody>
        </p:sp>
        <p:sp>
          <p:nvSpPr>
            <p:cNvPr id="135" name="TextBox 134">
              <a:extLst>
                <a:ext uri="{FF2B5EF4-FFF2-40B4-BE49-F238E27FC236}">
                  <a16:creationId xmlns:a16="http://schemas.microsoft.com/office/drawing/2014/main" id="{5751C060-9FEB-4848-A375-74918C935389}"/>
                </a:ext>
              </a:extLst>
            </p:cNvPr>
            <p:cNvSpPr txBox="1"/>
            <p:nvPr/>
          </p:nvSpPr>
          <p:spPr>
            <a:xfrm>
              <a:off x="3556086" y="53271"/>
              <a:ext cx="4000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/>
                <a:t>B</a:t>
              </a:r>
            </a:p>
          </p:txBody>
        </p:sp>
        <p:sp>
          <p:nvSpPr>
            <p:cNvPr id="137" name="TextBox 136">
              <a:extLst>
                <a:ext uri="{FF2B5EF4-FFF2-40B4-BE49-F238E27FC236}">
                  <a16:creationId xmlns:a16="http://schemas.microsoft.com/office/drawing/2014/main" id="{793F50BF-DDBB-4168-AF7A-576BB9DCE1DB}"/>
                </a:ext>
              </a:extLst>
            </p:cNvPr>
            <p:cNvSpPr txBox="1"/>
            <p:nvPr/>
          </p:nvSpPr>
          <p:spPr>
            <a:xfrm>
              <a:off x="6731172" y="53271"/>
              <a:ext cx="4000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/>
                <a:t>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80735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3">
            <a:extLst>
              <a:ext uri="{FF2B5EF4-FFF2-40B4-BE49-F238E27FC236}">
                <a16:creationId xmlns:a16="http://schemas.microsoft.com/office/drawing/2014/main" id="{36B28882-C41E-47B4-AC30-27651F45C912}"/>
              </a:ext>
            </a:extLst>
          </p:cNvPr>
          <p:cNvGrpSpPr/>
          <p:nvPr/>
        </p:nvGrpSpPr>
        <p:grpSpPr>
          <a:xfrm>
            <a:off x="278445" y="693953"/>
            <a:ext cx="11247827" cy="5106574"/>
            <a:chOff x="278445" y="693953"/>
            <a:chExt cx="11247827" cy="510657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6F0802EC-1B2D-4CE8-9479-5789035AB2C2}"/>
                </a:ext>
              </a:extLst>
            </p:cNvPr>
            <p:cNvGrpSpPr/>
            <p:nvPr/>
          </p:nvGrpSpPr>
          <p:grpSpPr>
            <a:xfrm>
              <a:off x="426406" y="1238053"/>
              <a:ext cx="11099866" cy="4562474"/>
              <a:chOff x="378781" y="580828"/>
              <a:chExt cx="11099866" cy="4562474"/>
            </a:xfrm>
          </p:grpSpPr>
          <p:grpSp>
            <p:nvGrpSpPr>
              <p:cNvPr id="20" name="Group 19">
                <a:extLst>
                  <a:ext uri="{FF2B5EF4-FFF2-40B4-BE49-F238E27FC236}">
                    <a16:creationId xmlns:a16="http://schemas.microsoft.com/office/drawing/2014/main" id="{9477E109-0684-4336-A0E2-5CE525EFFA3C}"/>
                  </a:ext>
                </a:extLst>
              </p:cNvPr>
              <p:cNvGrpSpPr/>
              <p:nvPr/>
            </p:nvGrpSpPr>
            <p:grpSpPr>
              <a:xfrm>
                <a:off x="378781" y="580828"/>
                <a:ext cx="2367480" cy="4552950"/>
                <a:chOff x="378781" y="581025"/>
                <a:chExt cx="2367480" cy="4552950"/>
              </a:xfrm>
            </p:grpSpPr>
            <p:grpSp>
              <p:nvGrpSpPr>
                <p:cNvPr id="3" name="Group 2">
                  <a:extLst>
                    <a:ext uri="{FF2B5EF4-FFF2-40B4-BE49-F238E27FC236}">
                      <a16:creationId xmlns:a16="http://schemas.microsoft.com/office/drawing/2014/main" id="{C8B0E115-73D6-48FC-A82C-32905EDF3E7C}"/>
                    </a:ext>
                  </a:extLst>
                </p:cNvPr>
                <p:cNvGrpSpPr/>
                <p:nvPr/>
              </p:nvGrpSpPr>
              <p:grpSpPr>
                <a:xfrm>
                  <a:off x="378782" y="581025"/>
                  <a:ext cx="2367479" cy="4462254"/>
                  <a:chOff x="378782" y="581025"/>
                  <a:chExt cx="2367479" cy="4462254"/>
                </a:xfrm>
              </p:grpSpPr>
              <p:sp>
                <p:nvSpPr>
                  <p:cNvPr id="16" name="Rectangle 15">
                    <a:extLst>
                      <a:ext uri="{FF2B5EF4-FFF2-40B4-BE49-F238E27FC236}">
                        <a16:creationId xmlns:a16="http://schemas.microsoft.com/office/drawing/2014/main" id="{BACF837D-EB30-4C57-A1A2-ED2549A976CF}"/>
                      </a:ext>
                    </a:extLst>
                  </p:cNvPr>
                  <p:cNvSpPr/>
                  <p:nvPr/>
                </p:nvSpPr>
                <p:spPr>
                  <a:xfrm>
                    <a:off x="629760" y="581025"/>
                    <a:ext cx="1447800" cy="3400425"/>
                  </a:xfrm>
                  <a:prstGeom prst="rect">
                    <a:avLst/>
                  </a:prstGeom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B990B34B-88AB-40C0-B9A0-AF2567EC8ED2}"/>
                      </a:ext>
                    </a:extLst>
                  </p:cNvPr>
                  <p:cNvSpPr/>
                  <p:nvPr/>
                </p:nvSpPr>
                <p:spPr>
                  <a:xfrm>
                    <a:off x="378782" y="2025244"/>
                    <a:ext cx="1944210" cy="190106"/>
                  </a:xfrm>
                  <a:prstGeom prst="rect">
                    <a:avLst/>
                  </a:prstGeom>
                  <a:solidFill>
                    <a:srgbClr val="00B0F0"/>
                  </a:solidFill>
                  <a:effectLst>
                    <a:glow rad="50800">
                      <a:srgbClr val="002060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A4722E7A-6278-4562-9E8E-2729E18C41F7}"/>
                      </a:ext>
                    </a:extLst>
                  </p:cNvPr>
                  <p:cNvSpPr/>
                  <p:nvPr/>
                </p:nvSpPr>
                <p:spPr>
                  <a:xfrm>
                    <a:off x="378782" y="2857303"/>
                    <a:ext cx="1944210" cy="190106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rgbClr val="FF0000"/>
                    </a:solidFill>
                  </a:ln>
                  <a:effectLst>
                    <a:glow rad="50800">
                      <a:srgbClr val="C00000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" name="Rectangle 22">
                    <a:extLst>
                      <a:ext uri="{FF2B5EF4-FFF2-40B4-BE49-F238E27FC236}">
                        <a16:creationId xmlns:a16="http://schemas.microsoft.com/office/drawing/2014/main" id="{A1CD5A13-E8C3-4012-B8DF-F5A14262214D}"/>
                      </a:ext>
                    </a:extLst>
                  </p:cNvPr>
                  <p:cNvSpPr/>
                  <p:nvPr/>
                </p:nvSpPr>
                <p:spPr>
                  <a:xfrm>
                    <a:off x="378782" y="906056"/>
                    <a:ext cx="1944210" cy="190106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rgbClr val="1A7402"/>
                    </a:solidFill>
                  </a:ln>
                  <a:effectLst>
                    <a:glow rad="50800">
                      <a:srgbClr val="1A7402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5" name="TextBox 24">
                        <a:extLst>
                          <a:ext uri="{FF2B5EF4-FFF2-40B4-BE49-F238E27FC236}">
                            <a16:creationId xmlns:a16="http://schemas.microsoft.com/office/drawing/2014/main" id="{2EF315B9-12DE-440E-A3FD-8E92DEE74181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401679" y="868547"/>
                        <a:ext cx="344582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GB" b="1" dirty="0"/>
                      </a:p>
                    </p:txBody>
                  </p:sp>
                </mc:Choice>
                <mc:Fallback>
                  <p:sp>
                    <p:nvSpPr>
                      <p:cNvPr id="25" name="TextBox 24">
                        <a:extLst>
                          <a:ext uri="{FF2B5EF4-FFF2-40B4-BE49-F238E27FC236}">
                            <a16:creationId xmlns:a16="http://schemas.microsoft.com/office/drawing/2014/main" id="{2EF315B9-12DE-440E-A3FD-8E92DEE74181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401679" y="868547"/>
                        <a:ext cx="344582" cy="276999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16071" r="-8929" b="-1521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40E86E8C-D45C-4B72-94BB-D96D03A34DE6}"/>
                      </a:ext>
                    </a:extLst>
                  </p:cNvPr>
                  <p:cNvSpPr txBox="1"/>
                  <p:nvPr/>
                </p:nvSpPr>
                <p:spPr>
                  <a:xfrm>
                    <a:off x="378782" y="4119949"/>
                    <a:ext cx="2022897" cy="923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dirty="0"/>
                      <a:t>No difference between realised and optimal result</a:t>
                    </a:r>
                  </a:p>
                </p:txBody>
              </p:sp>
            </p:grp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EC69AA65-4C64-452E-91DD-10BCA3279389}"/>
                    </a:ext>
                  </a:extLst>
                </p:cNvPr>
                <p:cNvSpPr/>
                <p:nvPr/>
              </p:nvSpPr>
              <p:spPr>
                <a:xfrm>
                  <a:off x="378781" y="3981450"/>
                  <a:ext cx="2367479" cy="115252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854CABA6-4B3F-4262-B8C2-6A6029EB1D4F}"/>
                  </a:ext>
                </a:extLst>
              </p:cNvPr>
              <p:cNvGrpSpPr/>
              <p:nvPr/>
            </p:nvGrpSpPr>
            <p:grpSpPr>
              <a:xfrm>
                <a:off x="3273409" y="580828"/>
                <a:ext cx="2367479" cy="4552950"/>
                <a:chOff x="3048977" y="581025"/>
                <a:chExt cx="2367479" cy="4552950"/>
              </a:xfrm>
            </p:grpSpPr>
            <p:grpSp>
              <p:nvGrpSpPr>
                <p:cNvPr id="6" name="Group 5">
                  <a:extLst>
                    <a:ext uri="{FF2B5EF4-FFF2-40B4-BE49-F238E27FC236}">
                      <a16:creationId xmlns:a16="http://schemas.microsoft.com/office/drawing/2014/main" id="{0CB0B67D-870D-4833-877C-0A07CBF4BAE2}"/>
                    </a:ext>
                  </a:extLst>
                </p:cNvPr>
                <p:cNvGrpSpPr/>
                <p:nvPr/>
              </p:nvGrpSpPr>
              <p:grpSpPr>
                <a:xfrm>
                  <a:off x="3048977" y="581025"/>
                  <a:ext cx="2367479" cy="4218405"/>
                  <a:chOff x="3048977" y="581025"/>
                  <a:chExt cx="2367479" cy="4218405"/>
                </a:xfrm>
              </p:grpSpPr>
              <p:sp>
                <p:nvSpPr>
                  <p:cNvPr id="40" name="Rectangle 39">
                    <a:extLst>
                      <a:ext uri="{FF2B5EF4-FFF2-40B4-BE49-F238E27FC236}">
                        <a16:creationId xmlns:a16="http://schemas.microsoft.com/office/drawing/2014/main" id="{9ECA08A3-AA31-4D41-84CE-30A806E87B70}"/>
                      </a:ext>
                    </a:extLst>
                  </p:cNvPr>
                  <p:cNvSpPr/>
                  <p:nvPr/>
                </p:nvSpPr>
                <p:spPr>
                  <a:xfrm>
                    <a:off x="3299955" y="581025"/>
                    <a:ext cx="1447800" cy="3400425"/>
                  </a:xfrm>
                  <a:prstGeom prst="rect">
                    <a:avLst/>
                  </a:prstGeom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277650F6-F8FA-437F-97DD-832F94211C09}"/>
                      </a:ext>
                    </a:extLst>
                  </p:cNvPr>
                  <p:cNvSpPr/>
                  <p:nvPr/>
                </p:nvSpPr>
                <p:spPr>
                  <a:xfrm>
                    <a:off x="3048977" y="2025244"/>
                    <a:ext cx="1944210" cy="190106"/>
                  </a:xfrm>
                  <a:prstGeom prst="rect">
                    <a:avLst/>
                  </a:prstGeom>
                  <a:solidFill>
                    <a:srgbClr val="00B0F0"/>
                  </a:solidFill>
                  <a:effectLst>
                    <a:glow rad="50800">
                      <a:srgbClr val="002060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" name="Rectangle 43">
                    <a:extLst>
                      <a:ext uri="{FF2B5EF4-FFF2-40B4-BE49-F238E27FC236}">
                        <a16:creationId xmlns:a16="http://schemas.microsoft.com/office/drawing/2014/main" id="{D38DD9EC-F597-4A22-96F9-E84BE1AC592B}"/>
                      </a:ext>
                    </a:extLst>
                  </p:cNvPr>
                  <p:cNvSpPr/>
                  <p:nvPr/>
                </p:nvSpPr>
                <p:spPr>
                  <a:xfrm>
                    <a:off x="3048977" y="1438098"/>
                    <a:ext cx="1944210" cy="209117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rgbClr val="FF0000"/>
                    </a:solidFill>
                  </a:ln>
                  <a:effectLst>
                    <a:glow rad="50800">
                      <a:srgbClr val="C00000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6" name="Rectangle 45">
                    <a:extLst>
                      <a:ext uri="{FF2B5EF4-FFF2-40B4-BE49-F238E27FC236}">
                        <a16:creationId xmlns:a16="http://schemas.microsoft.com/office/drawing/2014/main" id="{8368B5B0-3A5C-4CF1-B8FC-BED7B2450DA5}"/>
                      </a:ext>
                    </a:extLst>
                  </p:cNvPr>
                  <p:cNvSpPr/>
                  <p:nvPr/>
                </p:nvSpPr>
                <p:spPr>
                  <a:xfrm>
                    <a:off x="3048977" y="906056"/>
                    <a:ext cx="1944210" cy="190106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rgbClr val="1A7402"/>
                    </a:solidFill>
                  </a:ln>
                  <a:effectLst>
                    <a:glow rad="50800">
                      <a:srgbClr val="1A7402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8" name="TextBox 47">
                        <a:extLst>
                          <a:ext uri="{FF2B5EF4-FFF2-40B4-BE49-F238E27FC236}">
                            <a16:creationId xmlns:a16="http://schemas.microsoft.com/office/drawing/2014/main" id="{811A7D63-43CA-4B81-A50E-45604E985565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5071874" y="868547"/>
                        <a:ext cx="344582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𝑯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GB" b="1" dirty="0"/>
                      </a:p>
                    </p:txBody>
                  </p:sp>
                </mc:Choice>
                <mc:Fallback>
                  <p:sp>
                    <p:nvSpPr>
                      <p:cNvPr id="48" name="TextBox 47">
                        <a:extLst>
                          <a:ext uri="{FF2B5EF4-FFF2-40B4-BE49-F238E27FC236}">
                            <a16:creationId xmlns:a16="http://schemas.microsoft.com/office/drawing/2014/main" id="{811A7D63-43CA-4B81-A50E-45604E985565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071874" y="868547"/>
                        <a:ext cx="344582" cy="276999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16071" r="-8929" b="-1521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0" name="TextBox 49">
                        <a:extLst>
                          <a:ext uri="{FF2B5EF4-FFF2-40B4-BE49-F238E27FC236}">
                            <a16:creationId xmlns:a16="http://schemas.microsoft.com/office/drawing/2014/main" id="{C512EE82-7719-48A8-90CE-460D71F11A6C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048978" y="4119949"/>
                        <a:ext cx="2367478" cy="679481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dirty="0"/>
                          <a:t>Subject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a14:m>
                        <a:r>
                          <a:rPr lang="en-GB" dirty="0"/>
                          <a:t> overpays by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e>
                              <m: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a14:m>
                        <a:endParaRPr lang="en-GB" b="1" dirty="0"/>
                      </a:p>
                    </p:txBody>
                  </p:sp>
                </mc:Choice>
                <mc:Fallback>
                  <p:sp>
                    <p:nvSpPr>
                      <p:cNvPr id="50" name="TextBox 49">
                        <a:extLst>
                          <a:ext uri="{FF2B5EF4-FFF2-40B4-BE49-F238E27FC236}">
                            <a16:creationId xmlns:a16="http://schemas.microsoft.com/office/drawing/2014/main" id="{C512EE82-7719-48A8-90CE-460D71F11A6C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048978" y="4119949"/>
                        <a:ext cx="2367478" cy="679481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 l="-2320" t="-5405" r="-232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15" name="Rectangle 14">
                  <a:extLst>
                    <a:ext uri="{FF2B5EF4-FFF2-40B4-BE49-F238E27FC236}">
                      <a16:creationId xmlns:a16="http://schemas.microsoft.com/office/drawing/2014/main" id="{86D4EBBE-519F-4AD2-B47D-587F6DB5D5D3}"/>
                    </a:ext>
                  </a:extLst>
                </p:cNvPr>
                <p:cNvSpPr/>
                <p:nvPr/>
              </p:nvSpPr>
              <p:spPr>
                <a:xfrm>
                  <a:off x="3048977" y="3981450"/>
                  <a:ext cx="2367479" cy="115252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BC11B3AB-ECE7-4804-A1DC-FD3BEE5509F1}"/>
                  </a:ext>
                </a:extLst>
              </p:cNvPr>
              <p:cNvGrpSpPr/>
              <p:nvPr/>
            </p:nvGrpSpPr>
            <p:grpSpPr>
              <a:xfrm>
                <a:off x="6168036" y="580828"/>
                <a:ext cx="2415983" cy="4559483"/>
                <a:chOff x="6157057" y="581025"/>
                <a:chExt cx="2415983" cy="4559483"/>
              </a:xfrm>
            </p:grpSpPr>
            <p:grpSp>
              <p:nvGrpSpPr>
                <p:cNvPr id="8" name="Group 7">
                  <a:extLst>
                    <a:ext uri="{FF2B5EF4-FFF2-40B4-BE49-F238E27FC236}">
                      <a16:creationId xmlns:a16="http://schemas.microsoft.com/office/drawing/2014/main" id="{974C31D8-5E31-4CEF-A926-8865CBCEBE81}"/>
                    </a:ext>
                  </a:extLst>
                </p:cNvPr>
                <p:cNvGrpSpPr/>
                <p:nvPr/>
              </p:nvGrpSpPr>
              <p:grpSpPr>
                <a:xfrm>
                  <a:off x="6157057" y="581025"/>
                  <a:ext cx="2339198" cy="4462254"/>
                  <a:chOff x="6157057" y="581025"/>
                  <a:chExt cx="2339198" cy="4462254"/>
                </a:xfrm>
              </p:grpSpPr>
              <p:sp>
                <p:nvSpPr>
                  <p:cNvPr id="54" name="Rectangle 53">
                    <a:extLst>
                      <a:ext uri="{FF2B5EF4-FFF2-40B4-BE49-F238E27FC236}">
                        <a16:creationId xmlns:a16="http://schemas.microsoft.com/office/drawing/2014/main" id="{D57B39BB-6894-4584-8925-21F96E0EF2E6}"/>
                      </a:ext>
                    </a:extLst>
                  </p:cNvPr>
                  <p:cNvSpPr/>
                  <p:nvPr/>
                </p:nvSpPr>
                <p:spPr>
                  <a:xfrm>
                    <a:off x="6459904" y="581025"/>
                    <a:ext cx="1447800" cy="3400425"/>
                  </a:xfrm>
                  <a:prstGeom prst="rect">
                    <a:avLst/>
                  </a:prstGeom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56" name="Rectangle 55">
                    <a:extLst>
                      <a:ext uri="{FF2B5EF4-FFF2-40B4-BE49-F238E27FC236}">
                        <a16:creationId xmlns:a16="http://schemas.microsoft.com/office/drawing/2014/main" id="{6D037175-07E3-424D-8DBA-90255F524ECD}"/>
                      </a:ext>
                    </a:extLst>
                  </p:cNvPr>
                  <p:cNvSpPr/>
                  <p:nvPr/>
                </p:nvSpPr>
                <p:spPr>
                  <a:xfrm>
                    <a:off x="6208926" y="2025244"/>
                    <a:ext cx="1944210" cy="190106"/>
                  </a:xfrm>
                  <a:prstGeom prst="rect">
                    <a:avLst/>
                  </a:prstGeom>
                  <a:solidFill>
                    <a:srgbClr val="00B0F0"/>
                  </a:solidFill>
                  <a:effectLst>
                    <a:glow rad="50800">
                      <a:srgbClr val="002060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3CCA6437-B932-4ADD-9AB8-6E6ED6B9200D}"/>
                      </a:ext>
                    </a:extLst>
                  </p:cNvPr>
                  <p:cNvSpPr/>
                  <p:nvPr/>
                </p:nvSpPr>
                <p:spPr>
                  <a:xfrm>
                    <a:off x="6208926" y="1133278"/>
                    <a:ext cx="1944210" cy="190106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rgbClr val="FF0000"/>
                    </a:solidFill>
                  </a:ln>
                  <a:effectLst>
                    <a:glow rad="50800">
                      <a:srgbClr val="C00000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60" name="Rectangle 59">
                    <a:extLst>
                      <a:ext uri="{FF2B5EF4-FFF2-40B4-BE49-F238E27FC236}">
                        <a16:creationId xmlns:a16="http://schemas.microsoft.com/office/drawing/2014/main" id="{DC17E08B-CCF1-4927-A356-AF9FCE6B0C76}"/>
                      </a:ext>
                    </a:extLst>
                  </p:cNvPr>
                  <p:cNvSpPr/>
                  <p:nvPr/>
                </p:nvSpPr>
                <p:spPr>
                  <a:xfrm>
                    <a:off x="6208926" y="3430181"/>
                    <a:ext cx="1944210" cy="190106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rgbClr val="1A7402"/>
                    </a:solidFill>
                  </a:ln>
                  <a:effectLst>
                    <a:glow rad="50800">
                      <a:srgbClr val="1A7402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62" name="TextBox 61">
                        <a:extLst>
                          <a:ext uri="{FF2B5EF4-FFF2-40B4-BE49-F238E27FC236}">
                            <a16:creationId xmlns:a16="http://schemas.microsoft.com/office/drawing/2014/main" id="{87CCEFD9-7EBC-4454-B69B-EAB1D8B1623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8231823" y="3392672"/>
                        <a:ext cx="264431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GB" b="1" dirty="0"/>
                      </a:p>
                    </p:txBody>
                  </p:sp>
                </mc:Choice>
                <mc:Fallback>
                  <p:sp>
                    <p:nvSpPr>
                      <p:cNvPr id="62" name="TextBox 61">
                        <a:extLst>
                          <a:ext uri="{FF2B5EF4-FFF2-40B4-BE49-F238E27FC236}">
                            <a16:creationId xmlns:a16="http://schemas.microsoft.com/office/drawing/2014/main" id="{87CCEFD9-7EBC-4454-B69B-EAB1D8B1623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8231823" y="3392672"/>
                        <a:ext cx="264431" cy="276999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 l="-23256" r="-11628" b="-1521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64" name="TextBox 63">
                    <a:extLst>
                      <a:ext uri="{FF2B5EF4-FFF2-40B4-BE49-F238E27FC236}">
                        <a16:creationId xmlns:a16="http://schemas.microsoft.com/office/drawing/2014/main" id="{D2F17C1E-4D90-4DE8-8E0F-86A04E10039B}"/>
                      </a:ext>
                    </a:extLst>
                  </p:cNvPr>
                  <p:cNvSpPr txBox="1"/>
                  <p:nvPr/>
                </p:nvSpPr>
                <p:spPr>
                  <a:xfrm>
                    <a:off x="6157057" y="4119949"/>
                    <a:ext cx="2339198" cy="923330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GB" dirty="0"/>
                      <a:t>No difference between realised and optimal result</a:t>
                    </a:r>
                  </a:p>
                </p:txBody>
              </p:sp>
            </p:grpSp>
            <p:sp>
              <p:nvSpPr>
                <p:cNvPr id="17" name="Rectangle 16">
                  <a:extLst>
                    <a:ext uri="{FF2B5EF4-FFF2-40B4-BE49-F238E27FC236}">
                      <a16:creationId xmlns:a16="http://schemas.microsoft.com/office/drawing/2014/main" id="{486C0C5A-B1DF-4F87-9FA3-F95ADC7EB2C4}"/>
                    </a:ext>
                  </a:extLst>
                </p:cNvPr>
                <p:cNvSpPr/>
                <p:nvPr/>
              </p:nvSpPr>
              <p:spPr>
                <a:xfrm>
                  <a:off x="6205561" y="3987983"/>
                  <a:ext cx="2367479" cy="115252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A47BAC39-F7A4-496F-8AD7-02C3FB4163F0}"/>
                  </a:ext>
                </a:extLst>
              </p:cNvPr>
              <p:cNvGrpSpPr/>
              <p:nvPr/>
            </p:nvGrpSpPr>
            <p:grpSpPr>
              <a:xfrm>
                <a:off x="9111168" y="580828"/>
                <a:ext cx="2367479" cy="4562474"/>
                <a:chOff x="9111168" y="581025"/>
                <a:chExt cx="2367479" cy="4562474"/>
              </a:xfrm>
            </p:grpSpPr>
            <p:grpSp>
              <p:nvGrpSpPr>
                <p:cNvPr id="9" name="Group 8">
                  <a:extLst>
                    <a:ext uri="{FF2B5EF4-FFF2-40B4-BE49-F238E27FC236}">
                      <a16:creationId xmlns:a16="http://schemas.microsoft.com/office/drawing/2014/main" id="{A29C4506-75C0-46F4-BA60-C49EF81793B5}"/>
                    </a:ext>
                  </a:extLst>
                </p:cNvPr>
                <p:cNvGrpSpPr/>
                <p:nvPr/>
              </p:nvGrpSpPr>
              <p:grpSpPr>
                <a:xfrm>
                  <a:off x="9111168" y="581025"/>
                  <a:ext cx="2287329" cy="4471552"/>
                  <a:chOff x="9111168" y="581025"/>
                  <a:chExt cx="2287329" cy="4471552"/>
                </a:xfrm>
              </p:grpSpPr>
              <p:sp>
                <p:nvSpPr>
                  <p:cNvPr id="78" name="Rectangle 77">
                    <a:extLst>
                      <a:ext uri="{FF2B5EF4-FFF2-40B4-BE49-F238E27FC236}">
                        <a16:creationId xmlns:a16="http://schemas.microsoft.com/office/drawing/2014/main" id="{03CDEC5F-9BA8-4E73-9597-A00A7AB472C2}"/>
                      </a:ext>
                    </a:extLst>
                  </p:cNvPr>
                  <p:cNvSpPr/>
                  <p:nvPr/>
                </p:nvSpPr>
                <p:spPr>
                  <a:xfrm>
                    <a:off x="9362146" y="581025"/>
                    <a:ext cx="1447800" cy="3400425"/>
                  </a:xfrm>
                  <a:prstGeom prst="rect">
                    <a:avLst/>
                  </a:prstGeom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80" name="Rectangle 79">
                    <a:extLst>
                      <a:ext uri="{FF2B5EF4-FFF2-40B4-BE49-F238E27FC236}">
                        <a16:creationId xmlns:a16="http://schemas.microsoft.com/office/drawing/2014/main" id="{01277ADA-BD5B-44FD-B4CE-F1EA9E0ADAF8}"/>
                      </a:ext>
                    </a:extLst>
                  </p:cNvPr>
                  <p:cNvSpPr/>
                  <p:nvPr/>
                </p:nvSpPr>
                <p:spPr>
                  <a:xfrm>
                    <a:off x="9111168" y="2025244"/>
                    <a:ext cx="1944210" cy="190106"/>
                  </a:xfrm>
                  <a:prstGeom prst="rect">
                    <a:avLst/>
                  </a:prstGeom>
                  <a:solidFill>
                    <a:srgbClr val="00B0F0"/>
                  </a:solidFill>
                  <a:effectLst>
                    <a:glow rad="50800">
                      <a:srgbClr val="002060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2" name="Rectangle 81">
                    <a:extLst>
                      <a:ext uri="{FF2B5EF4-FFF2-40B4-BE49-F238E27FC236}">
                        <a16:creationId xmlns:a16="http://schemas.microsoft.com/office/drawing/2014/main" id="{5566954F-4D43-4050-8844-5EB2A044B82D}"/>
                      </a:ext>
                    </a:extLst>
                  </p:cNvPr>
                  <p:cNvSpPr/>
                  <p:nvPr/>
                </p:nvSpPr>
                <p:spPr>
                  <a:xfrm>
                    <a:off x="9111168" y="2647753"/>
                    <a:ext cx="1944210" cy="190106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rgbClr val="FF0000"/>
                    </a:solidFill>
                  </a:ln>
                  <a:effectLst>
                    <a:glow rad="50800">
                      <a:srgbClr val="C00000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84" name="Rectangle 83">
                    <a:extLst>
                      <a:ext uri="{FF2B5EF4-FFF2-40B4-BE49-F238E27FC236}">
                        <a16:creationId xmlns:a16="http://schemas.microsoft.com/office/drawing/2014/main" id="{5C7ABA68-2E49-4C32-9E3B-09E04E80808D}"/>
                      </a:ext>
                    </a:extLst>
                  </p:cNvPr>
                  <p:cNvSpPr/>
                  <p:nvPr/>
                </p:nvSpPr>
                <p:spPr>
                  <a:xfrm>
                    <a:off x="9111168" y="3430181"/>
                    <a:ext cx="1944210" cy="190106"/>
                  </a:xfrm>
                  <a:prstGeom prst="rect">
                    <a:avLst/>
                  </a:prstGeom>
                  <a:solidFill>
                    <a:srgbClr val="00B050"/>
                  </a:solidFill>
                  <a:ln>
                    <a:solidFill>
                      <a:srgbClr val="1A7402"/>
                    </a:solidFill>
                  </a:ln>
                  <a:effectLst>
                    <a:glow rad="50800">
                      <a:srgbClr val="1A7402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86" name="TextBox 85">
                        <a:extLst>
                          <a:ext uri="{FF2B5EF4-FFF2-40B4-BE49-F238E27FC236}">
                            <a16:creationId xmlns:a16="http://schemas.microsoft.com/office/drawing/2014/main" id="{4A3BDA52-8BFE-457D-8D59-3203369A329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11134065" y="3392672"/>
                        <a:ext cx="264431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𝑰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GB" b="1" dirty="0"/>
                      </a:p>
                    </p:txBody>
                  </p:sp>
                </mc:Choice>
                <mc:Fallback>
                  <p:sp>
                    <p:nvSpPr>
                      <p:cNvPr id="86" name="TextBox 85">
                        <a:extLst>
                          <a:ext uri="{FF2B5EF4-FFF2-40B4-BE49-F238E27FC236}">
                            <a16:creationId xmlns:a16="http://schemas.microsoft.com/office/drawing/2014/main" id="{4A3BDA52-8BFE-457D-8D59-3203369A329D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1134065" y="3392672"/>
                        <a:ext cx="264431" cy="276999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20455" r="-9091" b="-1521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" name="TextBox 1">
                        <a:extLst>
                          <a:ext uri="{FF2B5EF4-FFF2-40B4-BE49-F238E27FC236}">
                            <a16:creationId xmlns:a16="http://schemas.microsoft.com/office/drawing/2014/main" id="{E677A536-3E0B-47B9-B8C7-036E5721B4F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9111169" y="4119949"/>
                        <a:ext cx="2287328" cy="932628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dirty="0"/>
                          <a:t>Subject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a14:m>
                        <a:r>
                          <a:rPr lang="en-GB" dirty="0"/>
                          <a:t> misses opportunity to make profit of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e>
                              <m: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</m:oMath>
                        </a14:m>
                        <a:endParaRPr lang="en-GB" b="1" dirty="0"/>
                      </a:p>
                    </p:txBody>
                  </p:sp>
                </mc:Choice>
                <mc:Fallback>
                  <p:sp>
                    <p:nvSpPr>
                      <p:cNvPr id="2" name="TextBox 1">
                        <a:extLst>
                          <a:ext uri="{FF2B5EF4-FFF2-40B4-BE49-F238E27FC236}">
                            <a16:creationId xmlns:a16="http://schemas.microsoft.com/office/drawing/2014/main" id="{E677A536-3E0B-47B9-B8C7-036E5721B4FF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9111169" y="4119949"/>
                        <a:ext cx="2287328" cy="932628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l="-2128" t="-3922" b="-9804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9AAC908F-5132-4C45-8C3D-AE0660B827F9}"/>
                    </a:ext>
                  </a:extLst>
                </p:cNvPr>
                <p:cNvSpPr/>
                <p:nvPr/>
              </p:nvSpPr>
              <p:spPr>
                <a:xfrm>
                  <a:off x="9111168" y="3990974"/>
                  <a:ext cx="2367479" cy="1152525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2617994-DA8F-4D46-B81B-F5534E67D0C5}"/>
                </a:ext>
              </a:extLst>
            </p:cNvPr>
            <p:cNvSpPr txBox="1"/>
            <p:nvPr/>
          </p:nvSpPr>
          <p:spPr>
            <a:xfrm>
              <a:off x="278445" y="693953"/>
              <a:ext cx="4000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/>
                <a:t>D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C2F28EAE-3083-40B2-A7AB-7A26E90E817E}"/>
                </a:ext>
              </a:extLst>
            </p:cNvPr>
            <p:cNvSpPr txBox="1"/>
            <p:nvPr/>
          </p:nvSpPr>
          <p:spPr>
            <a:xfrm>
              <a:off x="3188870" y="693953"/>
              <a:ext cx="4000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/>
                <a:t>E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19060D5-F142-4F0F-9CB7-47F1AAC43FD2}"/>
                </a:ext>
              </a:extLst>
            </p:cNvPr>
            <p:cNvSpPr txBox="1"/>
            <p:nvPr/>
          </p:nvSpPr>
          <p:spPr>
            <a:xfrm>
              <a:off x="6099295" y="693953"/>
              <a:ext cx="4000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/>
                <a:t>F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DF0CC2C-A7C1-4337-A685-558839D355D9}"/>
                </a:ext>
              </a:extLst>
            </p:cNvPr>
            <p:cNvSpPr txBox="1"/>
            <p:nvPr/>
          </p:nvSpPr>
          <p:spPr>
            <a:xfrm>
              <a:off x="9009721" y="693953"/>
              <a:ext cx="400050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2800" b="1" dirty="0"/>
                <a:t>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002591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6">
            <a:extLst>
              <a:ext uri="{FF2B5EF4-FFF2-40B4-BE49-F238E27FC236}">
                <a16:creationId xmlns:a16="http://schemas.microsoft.com/office/drawing/2014/main" id="{3BCBF54D-5234-4BA6-81D6-2F1514997EF8}"/>
              </a:ext>
            </a:extLst>
          </p:cNvPr>
          <p:cNvGrpSpPr/>
          <p:nvPr/>
        </p:nvGrpSpPr>
        <p:grpSpPr>
          <a:xfrm>
            <a:off x="832413" y="-3185278"/>
            <a:ext cx="11628485" cy="11723149"/>
            <a:chOff x="832413" y="-3185278"/>
            <a:chExt cx="11628485" cy="11723149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E5B1B2E1-FC3F-41CA-AE1A-B0BD12242788}"/>
                </a:ext>
              </a:extLst>
            </p:cNvPr>
            <p:cNvGrpSpPr/>
            <p:nvPr/>
          </p:nvGrpSpPr>
          <p:grpSpPr>
            <a:xfrm>
              <a:off x="832413" y="-2637883"/>
              <a:ext cx="8443455" cy="5295403"/>
              <a:chOff x="381000" y="53271"/>
              <a:chExt cx="8443455" cy="5295403"/>
            </a:xfrm>
          </p:grpSpPr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E1758283-2CC2-4393-81D5-AAAE1B877386}"/>
                  </a:ext>
                </a:extLst>
              </p:cNvPr>
              <p:cNvGrpSpPr/>
              <p:nvPr/>
            </p:nvGrpSpPr>
            <p:grpSpPr>
              <a:xfrm>
                <a:off x="535008" y="581024"/>
                <a:ext cx="2257250" cy="4767650"/>
                <a:chOff x="132794" y="442525"/>
                <a:chExt cx="2257250" cy="4767650"/>
              </a:xfrm>
            </p:grpSpPr>
            <p:grpSp>
              <p:nvGrpSpPr>
                <p:cNvPr id="23" name="Group 22">
                  <a:extLst>
                    <a:ext uri="{FF2B5EF4-FFF2-40B4-BE49-F238E27FC236}">
                      <a16:creationId xmlns:a16="http://schemas.microsoft.com/office/drawing/2014/main" id="{CBF44FE4-9FE0-4E92-B91B-521D395B917D}"/>
                    </a:ext>
                  </a:extLst>
                </p:cNvPr>
                <p:cNvGrpSpPr/>
                <p:nvPr/>
              </p:nvGrpSpPr>
              <p:grpSpPr>
                <a:xfrm>
                  <a:off x="132795" y="442525"/>
                  <a:ext cx="2257249" cy="3677424"/>
                  <a:chOff x="313770" y="442525"/>
                  <a:chExt cx="2257249" cy="3677424"/>
                </a:xfrm>
              </p:grpSpPr>
              <p:sp>
                <p:nvSpPr>
                  <p:cNvPr id="25" name="Rectangle 24">
                    <a:extLst>
                      <a:ext uri="{FF2B5EF4-FFF2-40B4-BE49-F238E27FC236}">
                        <a16:creationId xmlns:a16="http://schemas.microsoft.com/office/drawing/2014/main" id="{AE375147-7772-485D-91B6-3EC5B954C26B}"/>
                      </a:ext>
                    </a:extLst>
                  </p:cNvPr>
                  <p:cNvSpPr/>
                  <p:nvPr/>
                </p:nvSpPr>
                <p:spPr>
                  <a:xfrm>
                    <a:off x="561975" y="581025"/>
                    <a:ext cx="1447800" cy="3400425"/>
                  </a:xfrm>
                  <a:prstGeom prst="rect">
                    <a:avLst/>
                  </a:prstGeom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6" name="TextBox 25">
                        <a:extLst>
                          <a:ext uri="{FF2B5EF4-FFF2-40B4-BE49-F238E27FC236}">
                            <a16:creationId xmlns:a16="http://schemas.microsoft.com/office/drawing/2014/main" id="{C0D63C65-93ED-45FB-BA5B-74F7743D7E6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09775" y="3842950"/>
                        <a:ext cx="532903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𝑚𝑖𝑛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GB" dirty="0"/>
                      </a:p>
                    </p:txBody>
                  </p:sp>
                </mc:Choice>
                <mc:Fallback>
                  <p:sp>
                    <p:nvSpPr>
                      <p:cNvPr id="26" name="TextBox 25">
                        <a:extLst>
                          <a:ext uri="{FF2B5EF4-FFF2-40B4-BE49-F238E27FC236}">
                            <a16:creationId xmlns:a16="http://schemas.microsoft.com/office/drawing/2014/main" id="{C0D63C65-93ED-45FB-BA5B-74F7743D7E6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009775" y="3842950"/>
                        <a:ext cx="532903" cy="276999"/>
                      </a:xfrm>
                      <a:prstGeom prst="rect">
                        <a:avLst/>
                      </a:prstGeom>
                      <a:blipFill>
                        <a:blip r:embed="rId2"/>
                        <a:stretch>
                          <a:fillRect l="-9195" r="-6897" b="-17778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E39B119B-F942-45C3-9F71-34A353CB262A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009775" y="442525"/>
                        <a:ext cx="561244" cy="27699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lIns="0" tIns="0" rIns="0" bIns="0" rtlCol="0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𝑚</m:t>
                                  </m:r>
                                  <m:r>
                                    <a:rPr lang="en-GB" b="0" i="1" smtClean="0">
                                      <a:latin typeface="Cambria Math" panose="02040503050406030204" pitchFamily="18" charset="0"/>
                                    </a:rPr>
                                    <m:t>𝑎𝑥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GB" dirty="0"/>
                      </a:p>
                    </p:txBody>
                  </p:sp>
                </mc:Choice>
                <mc:Fallback>
                  <p:sp>
                    <p:nvSpPr>
                      <p:cNvPr id="27" name="TextBox 26">
                        <a:extLst>
                          <a:ext uri="{FF2B5EF4-FFF2-40B4-BE49-F238E27FC236}">
                            <a16:creationId xmlns:a16="http://schemas.microsoft.com/office/drawing/2014/main" id="{E39B119B-F942-45C3-9F71-34A353CB262A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009775" y="442525"/>
                        <a:ext cx="561244" cy="276999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l="-8696" r="-2174" b="-11111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8" name="Rectangle 27">
                        <a:extLst>
                          <a:ext uri="{FF2B5EF4-FFF2-40B4-BE49-F238E27FC236}">
                            <a16:creationId xmlns:a16="http://schemas.microsoft.com/office/drawing/2014/main" id="{B33EC61E-8B11-4679-8B03-F3349F20036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3770" y="1124738"/>
                        <a:ext cx="1944210" cy="399262"/>
                      </a:xfrm>
                      <a:prstGeom prst="rect">
                        <a:avLst/>
                      </a:prstGeom>
                      <a:solidFill>
                        <a:srgbClr val="00B0F0"/>
                      </a:solidFill>
                      <a:effectLst>
                        <a:glow rad="50800">
                          <a:srgbClr val="002060"/>
                        </a:glo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𝐵</m:t>
                                  </m:r>
                                </m:e>
                                <m:sub>
                                  <m:r>
                                    <a:rPr lang="en-GB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𝑠𝑢𝑏𝑗𝑒𝑐𝑡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GB" b="1" i="1" smtClean="0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>
                                      <a:solidFill>
                                        <a:schemeClr val="tx1"/>
                                      </a:solidFill>
                                    </a:rPr>
                                    <m:t>𝑮</m:t>
                                  </m:r>
                                </m:e>
                                <m:sub>
                                  <m:r>
                                    <a:rPr lang="en-GB" b="1" i="1">
                                      <a:solidFill>
                                        <a:schemeClr val="tx1"/>
                                      </a:solidFill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GB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28" name="Rectangle 27">
                        <a:extLst>
                          <a:ext uri="{FF2B5EF4-FFF2-40B4-BE49-F238E27FC236}">
                            <a16:creationId xmlns:a16="http://schemas.microsoft.com/office/drawing/2014/main" id="{B33EC61E-8B11-4679-8B03-F3349F200367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3770" y="1124738"/>
                        <a:ext cx="1944210" cy="399262"/>
                      </a:xfrm>
                      <a:prstGeom prst="rect">
                        <a:avLst/>
                      </a:prstGeom>
                      <a:blipFill>
                        <a:blip r:embed="rId4"/>
                        <a:stretch>
                          <a:fillRect/>
                        </a:stretch>
                      </a:blipFill>
                      <a:effectLst>
                        <a:glow rad="50800">
                          <a:srgbClr val="002060"/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cxnSp>
                <p:nvCxnSpPr>
                  <p:cNvPr id="29" name="Straight Arrow Connector 28">
                    <a:extLst>
                      <a:ext uri="{FF2B5EF4-FFF2-40B4-BE49-F238E27FC236}">
                        <a16:creationId xmlns:a16="http://schemas.microsoft.com/office/drawing/2014/main" id="{C0DF2696-5430-4930-9971-999AFA245724}"/>
                      </a:ext>
                    </a:extLst>
                  </p:cNvPr>
                  <p:cNvCxnSpPr/>
                  <p:nvPr/>
                </p:nvCxnSpPr>
                <p:spPr>
                  <a:xfrm>
                    <a:off x="2457450" y="833824"/>
                    <a:ext cx="0" cy="956876"/>
                  </a:xfrm>
                  <a:prstGeom prst="straightConnector1">
                    <a:avLst/>
                  </a:prstGeom>
                  <a:ln w="44450">
                    <a:solidFill>
                      <a:srgbClr val="002060"/>
                    </a:solidFill>
                    <a:headEnd type="triangl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30" name="Rectangle 29">
                        <a:extLst>
                          <a:ext uri="{FF2B5EF4-FFF2-40B4-BE49-F238E27FC236}">
                            <a16:creationId xmlns:a16="http://schemas.microsoft.com/office/drawing/2014/main" id="{ED2BCE12-16ED-4BC0-A916-9C26B92DA9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3770" y="2553094"/>
                        <a:ext cx="1944210" cy="399262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solidFill>
                          <a:srgbClr val="FF0000"/>
                        </a:solidFill>
                      </a:ln>
                      <a:effectLst>
                        <a:glow rad="50800">
                          <a:srgbClr val="C00000"/>
                        </a:glow>
                      </a:effectLst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𝐵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𝑜𝑝𝑝𝑜𝑛𝑒𝑛𝑡𝑠</m:t>
                                  </m:r>
                                </m:sub>
                              </m:sSub>
                              <m:r>
                                <a:rPr lang="en-GB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sSub>
                                <m:sSubPr>
                                  <m:ctrlPr>
                                    <a:rPr lang="en-GB" b="1" i="1">
                                      <a:solidFill>
                                        <a:schemeClr val="tx1"/>
                                      </a:solidFill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b="1" i="1">
                                          <a:solidFill>
                                            <a:schemeClr val="tx1"/>
                                          </a:solidFill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b="1" i="1">
                                          <a:solidFill>
                                            <a:schemeClr val="tx1"/>
                                          </a:solidFill>
                                        </a:rPr>
                                        <m:t>𝑮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b="1" i="1">
                                      <a:solidFill>
                                        <a:schemeClr val="tx1"/>
                                      </a:solidFill>
                                    </a:rPr>
                                    <m:t>𝒏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GB" dirty="0">
                          <a:solidFill>
                            <a:schemeClr val="tx1"/>
                          </a:solidFill>
                        </a:endParaRPr>
                      </a:p>
                    </p:txBody>
                  </p:sp>
                </mc:Choice>
                <mc:Fallback>
                  <p:sp>
                    <p:nvSpPr>
                      <p:cNvPr id="30" name="Rectangle 29">
                        <a:extLst>
                          <a:ext uri="{FF2B5EF4-FFF2-40B4-BE49-F238E27FC236}">
                            <a16:creationId xmlns:a16="http://schemas.microsoft.com/office/drawing/2014/main" id="{ED2BCE12-16ED-4BC0-A916-9C26B92DA9F1}"/>
                          </a:ext>
                        </a:extLst>
                      </p:cNvPr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3770" y="2553094"/>
                        <a:ext cx="1944210" cy="399262"/>
                      </a:xfrm>
                      <a:prstGeom prst="rect">
                        <a:avLst/>
                      </a:prstGeom>
                      <a:blipFill>
                        <a:blip r:embed="rId5"/>
                        <a:stretch>
                          <a:fillRect/>
                        </a:stretch>
                      </a:blipFill>
                      <a:ln>
                        <a:solidFill>
                          <a:srgbClr val="FF0000"/>
                        </a:solidFill>
                      </a:ln>
                      <a:effectLst>
                        <a:glow rad="50800">
                          <a:srgbClr val="C00000"/>
                        </a:glow>
                      </a:effectLst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24" name="Rectangle 23">
                  <a:extLst>
                    <a:ext uri="{FF2B5EF4-FFF2-40B4-BE49-F238E27FC236}">
                      <a16:creationId xmlns:a16="http://schemas.microsoft.com/office/drawing/2014/main" id="{124BF5B3-14DB-42DA-99F4-BFF5EB9F9E98}"/>
                    </a:ext>
                  </a:extLst>
                </p:cNvPr>
                <p:cNvSpPr/>
                <p:nvPr/>
              </p:nvSpPr>
              <p:spPr>
                <a:xfrm>
                  <a:off x="132794" y="3981449"/>
                  <a:ext cx="2257249" cy="1228726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803C444D-CFF9-4D34-B2F3-34BB613420CB}"/>
                  </a:ext>
                </a:extLst>
              </p:cNvPr>
              <p:cNvGrpSpPr/>
              <p:nvPr/>
            </p:nvGrpSpPr>
            <p:grpSpPr>
              <a:xfrm>
                <a:off x="6880244" y="581024"/>
                <a:ext cx="1944211" cy="4728033"/>
                <a:chOff x="6880244" y="581024"/>
                <a:chExt cx="1944211" cy="4728033"/>
              </a:xfrm>
            </p:grpSpPr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E08230B8-8F2E-48EB-9F6A-F9424D66AC3A}"/>
                    </a:ext>
                  </a:extLst>
                </p:cNvPr>
                <p:cNvGrpSpPr/>
                <p:nvPr/>
              </p:nvGrpSpPr>
              <p:grpSpPr>
                <a:xfrm>
                  <a:off x="6880244" y="581024"/>
                  <a:ext cx="1944211" cy="4728033"/>
                  <a:chOff x="6880244" y="581024"/>
                  <a:chExt cx="1944211" cy="4728033"/>
                </a:xfrm>
              </p:grpSpPr>
              <p:sp>
                <p:nvSpPr>
                  <p:cNvPr id="19" name="Rectangle 18">
                    <a:extLst>
                      <a:ext uri="{FF2B5EF4-FFF2-40B4-BE49-F238E27FC236}">
                        <a16:creationId xmlns:a16="http://schemas.microsoft.com/office/drawing/2014/main" id="{C01CE894-F83B-4571-8E01-B15182BE5B82}"/>
                      </a:ext>
                    </a:extLst>
                  </p:cNvPr>
                  <p:cNvSpPr/>
                  <p:nvPr/>
                </p:nvSpPr>
                <p:spPr>
                  <a:xfrm>
                    <a:off x="7131222" y="581024"/>
                    <a:ext cx="1447800" cy="3400425"/>
                  </a:xfrm>
                  <a:prstGeom prst="rect">
                    <a:avLst/>
                  </a:prstGeom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20" name="Rectangle 19">
                    <a:extLst>
                      <a:ext uri="{FF2B5EF4-FFF2-40B4-BE49-F238E27FC236}">
                        <a16:creationId xmlns:a16="http://schemas.microsoft.com/office/drawing/2014/main" id="{21A46A80-2D02-488B-9D3F-BF5CFF8D7A5F}"/>
                      </a:ext>
                    </a:extLst>
                  </p:cNvPr>
                  <p:cNvSpPr/>
                  <p:nvPr/>
                </p:nvSpPr>
                <p:spPr>
                  <a:xfrm>
                    <a:off x="6880244" y="2025243"/>
                    <a:ext cx="1944210" cy="190106"/>
                  </a:xfrm>
                  <a:prstGeom prst="rect">
                    <a:avLst/>
                  </a:prstGeom>
                  <a:solidFill>
                    <a:srgbClr val="00B0F0"/>
                  </a:solidFill>
                  <a:effectLst>
                    <a:glow rad="50800">
                      <a:srgbClr val="002060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1" name="Rectangle 20">
                    <a:extLst>
                      <a:ext uri="{FF2B5EF4-FFF2-40B4-BE49-F238E27FC236}">
                        <a16:creationId xmlns:a16="http://schemas.microsoft.com/office/drawing/2014/main" id="{DD3CDC38-C36C-458B-BF51-B927CB29F41C}"/>
                      </a:ext>
                    </a:extLst>
                  </p:cNvPr>
                  <p:cNvSpPr/>
                  <p:nvPr/>
                </p:nvSpPr>
                <p:spPr>
                  <a:xfrm>
                    <a:off x="6880244" y="1095177"/>
                    <a:ext cx="1944210" cy="190106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rgbClr val="FF0000"/>
                    </a:solidFill>
                  </a:ln>
                  <a:effectLst>
                    <a:glow rad="50800">
                      <a:srgbClr val="C00000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36392835-7440-4805-8DFA-E92C680E1ACE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80245" y="4108728"/>
                        <a:ext cx="1944210" cy="1200329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dirty="0"/>
                          <a:t>Subject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a14:m>
                        <a:r>
                          <a:rPr lang="en-GB" dirty="0"/>
                          <a:t> loses the auction and makes no profit or loss</a:t>
                        </a:r>
                        <a:endParaRPr lang="en-GB" b="1" dirty="0"/>
                      </a:p>
                    </p:txBody>
                  </p:sp>
                </mc:Choice>
                <mc:Fallback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36392835-7440-4805-8DFA-E92C680E1ACE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6880245" y="4108728"/>
                        <a:ext cx="1944210" cy="1200329"/>
                      </a:xfrm>
                      <a:prstGeom prst="rect">
                        <a:avLst/>
                      </a:prstGeom>
                      <a:blipFill>
                        <a:blip r:embed="rId6"/>
                        <a:stretch>
                          <a:fillRect l="-2821" t="-3061" r="-2194" b="-7653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18" name="Rectangle 17">
                  <a:extLst>
                    <a:ext uri="{FF2B5EF4-FFF2-40B4-BE49-F238E27FC236}">
                      <a16:creationId xmlns:a16="http://schemas.microsoft.com/office/drawing/2014/main" id="{2BA76B6C-EAFC-4E49-9CB3-57251376CB8F}"/>
                    </a:ext>
                  </a:extLst>
                </p:cNvPr>
                <p:cNvSpPr/>
                <p:nvPr/>
              </p:nvSpPr>
              <p:spPr>
                <a:xfrm>
                  <a:off x="6880244" y="3981449"/>
                  <a:ext cx="1944210" cy="132760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F16C6A84-3F33-42EB-8B95-424D9121FFAB}"/>
                  </a:ext>
                </a:extLst>
              </p:cNvPr>
              <p:cNvGrpSpPr/>
              <p:nvPr/>
            </p:nvGrpSpPr>
            <p:grpSpPr>
              <a:xfrm>
                <a:off x="3864146" y="581024"/>
                <a:ext cx="1944211" cy="4737332"/>
                <a:chOff x="3861373" y="581024"/>
                <a:chExt cx="1944211" cy="4737332"/>
              </a:xfrm>
            </p:grpSpPr>
            <p:grpSp>
              <p:nvGrpSpPr>
                <p:cNvPr id="11" name="Group 10">
                  <a:extLst>
                    <a:ext uri="{FF2B5EF4-FFF2-40B4-BE49-F238E27FC236}">
                      <a16:creationId xmlns:a16="http://schemas.microsoft.com/office/drawing/2014/main" id="{EA572BE6-8C17-47FA-87CF-88D489E1FEB2}"/>
                    </a:ext>
                  </a:extLst>
                </p:cNvPr>
                <p:cNvGrpSpPr/>
                <p:nvPr/>
              </p:nvGrpSpPr>
              <p:grpSpPr>
                <a:xfrm>
                  <a:off x="3861373" y="581024"/>
                  <a:ext cx="1944211" cy="4737332"/>
                  <a:chOff x="3861373" y="581024"/>
                  <a:chExt cx="1944211" cy="4737332"/>
                </a:xfrm>
              </p:grpSpPr>
              <p:sp>
                <p:nvSpPr>
                  <p:cNvPr id="13" name="Rectangle 12">
                    <a:extLst>
                      <a:ext uri="{FF2B5EF4-FFF2-40B4-BE49-F238E27FC236}">
                        <a16:creationId xmlns:a16="http://schemas.microsoft.com/office/drawing/2014/main" id="{59118168-B4E3-4EA0-880A-631F2F734835}"/>
                      </a:ext>
                    </a:extLst>
                  </p:cNvPr>
                  <p:cNvSpPr/>
                  <p:nvPr/>
                </p:nvSpPr>
                <p:spPr>
                  <a:xfrm>
                    <a:off x="4112351" y="581024"/>
                    <a:ext cx="1447800" cy="3400425"/>
                  </a:xfrm>
                  <a:prstGeom prst="rect">
                    <a:avLst/>
                  </a:prstGeom>
                  <a:effectLst>
                    <a:glow rad="63500">
                      <a:schemeClr val="accent3">
                        <a:satMod val="175000"/>
                        <a:alpha val="40000"/>
                      </a:schemeClr>
                    </a:glow>
                  </a:effectLst>
                </p:spPr>
                <p:style>
                  <a:lnRef idx="2">
                    <a:schemeClr val="accent3">
                      <a:shade val="50000"/>
                    </a:schemeClr>
                  </a:lnRef>
                  <a:fillRef idx="1">
                    <a:schemeClr val="accent3"/>
                  </a:fillRef>
                  <a:effectRef idx="0">
                    <a:schemeClr val="accent3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  <p:sp>
                <p:nvSpPr>
                  <p:cNvPr id="14" name="Rectangle 13">
                    <a:extLst>
                      <a:ext uri="{FF2B5EF4-FFF2-40B4-BE49-F238E27FC236}">
                        <a16:creationId xmlns:a16="http://schemas.microsoft.com/office/drawing/2014/main" id="{6F2038E9-24A0-4D62-9CD2-1301F0EED377}"/>
                      </a:ext>
                    </a:extLst>
                  </p:cNvPr>
                  <p:cNvSpPr/>
                  <p:nvPr/>
                </p:nvSpPr>
                <p:spPr>
                  <a:xfrm>
                    <a:off x="3861373" y="2025243"/>
                    <a:ext cx="1944210" cy="190106"/>
                  </a:xfrm>
                  <a:prstGeom prst="rect">
                    <a:avLst/>
                  </a:prstGeom>
                  <a:solidFill>
                    <a:srgbClr val="00B0F0"/>
                  </a:solidFill>
                  <a:effectLst>
                    <a:glow rad="50800">
                      <a:srgbClr val="002060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5" name="Rectangle 14">
                    <a:extLst>
                      <a:ext uri="{FF2B5EF4-FFF2-40B4-BE49-F238E27FC236}">
                        <a16:creationId xmlns:a16="http://schemas.microsoft.com/office/drawing/2014/main" id="{9D5CB14B-C58E-417B-84E7-A7E09019A747}"/>
                      </a:ext>
                    </a:extLst>
                  </p:cNvPr>
                  <p:cNvSpPr/>
                  <p:nvPr/>
                </p:nvSpPr>
                <p:spPr>
                  <a:xfrm>
                    <a:off x="3861373" y="2857302"/>
                    <a:ext cx="1944210" cy="190106"/>
                  </a:xfrm>
                  <a:prstGeom prst="rect">
                    <a:avLst/>
                  </a:prstGeom>
                  <a:solidFill>
                    <a:schemeClr val="accent2"/>
                  </a:solidFill>
                  <a:ln>
                    <a:solidFill>
                      <a:srgbClr val="FF0000"/>
                    </a:solidFill>
                  </a:ln>
                  <a:effectLst>
                    <a:glow rad="50800">
                      <a:srgbClr val="C00000"/>
                    </a:glow>
                  </a:effectLst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dirty="0">
                      <a:solidFill>
                        <a:schemeClr val="tx1"/>
                      </a:solidFill>
                    </a:endParaRPr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6" name="TextBox 15">
                        <a:extLst>
                          <a:ext uri="{FF2B5EF4-FFF2-40B4-BE49-F238E27FC236}">
                            <a16:creationId xmlns:a16="http://schemas.microsoft.com/office/drawing/2014/main" id="{485F6B78-F533-4783-953C-6D59FBF3E42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861374" y="4108729"/>
                        <a:ext cx="1944210" cy="1209627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r>
                          <a:rPr lang="en-GB" dirty="0"/>
                          <a:t>Subject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𝑺</m:t>
                                </m:r>
                              </m:e>
                              <m: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</m:oMath>
                        </a14:m>
                        <a:r>
                          <a:rPr lang="en-GB" dirty="0"/>
                          <a:t> win the auction and makes a profit of </a:t>
                        </a:r>
                        <a14:m>
                          <m:oMath xmlns:m="http://schemas.openxmlformats.org/officeDocument/2006/math">
                            <m:sSub>
                              <m:sSub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𝑮</m:t>
                                </m:r>
                              </m:e>
                              <m: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</m:sub>
                            </m:sSub>
                            <m:r>
                              <a:rPr lang="en-GB" b="1" i="1" smtClean="0">
                                <a:latin typeface="Cambria Math" panose="02040503050406030204" pitchFamily="18" charset="0"/>
                              </a:rPr>
                              <m:t>− </m:t>
                            </m:r>
                            <m:sSub>
                              <m:sSubPr>
                                <m:ctrlP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𝑮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GB" b="1" i="1" smtClean="0">
                                    <a:latin typeface="Cambria Math" panose="02040503050406030204" pitchFamily="18" charset="0"/>
                                  </a:rPr>
                                  <m:t>𝒏</m:t>
                                </m:r>
                              </m:sub>
                            </m:sSub>
                          </m:oMath>
                        </a14:m>
                        <a:endParaRPr lang="en-GB" b="1" dirty="0"/>
                      </a:p>
                    </p:txBody>
                  </p:sp>
                </mc:Choice>
                <mc:Fallback>
                  <p:sp>
                    <p:nvSpPr>
                      <p:cNvPr id="16" name="TextBox 15">
                        <a:extLst>
                          <a:ext uri="{FF2B5EF4-FFF2-40B4-BE49-F238E27FC236}">
                            <a16:creationId xmlns:a16="http://schemas.microsoft.com/office/drawing/2014/main" id="{485F6B78-F533-4783-953C-6D59FBF3E422}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861374" y="4108729"/>
                        <a:ext cx="1944210" cy="1209627"/>
                      </a:xfrm>
                      <a:prstGeom prst="rect">
                        <a:avLst/>
                      </a:prstGeom>
                      <a:blipFill>
                        <a:blip r:embed="rId7"/>
                        <a:stretch>
                          <a:fillRect l="-2821" t="-3030" r="-4389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GB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12CD26F1-D489-4413-8BC1-E5928BFAF89A}"/>
                    </a:ext>
                  </a:extLst>
                </p:cNvPr>
                <p:cNvSpPr/>
                <p:nvPr/>
              </p:nvSpPr>
              <p:spPr>
                <a:xfrm>
                  <a:off x="3861373" y="3981449"/>
                  <a:ext cx="1944210" cy="1327608"/>
                </a:xfrm>
                <a:prstGeom prst="rect">
                  <a:avLst/>
                </a:prstGeom>
                <a:no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/>
                </a:p>
              </p:txBody>
            </p:sp>
          </p:grpSp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D5072E7F-0F3C-4BCA-9811-74FEE350F893}"/>
                  </a:ext>
                </a:extLst>
              </p:cNvPr>
              <p:cNvSpPr txBox="1"/>
              <p:nvPr/>
            </p:nvSpPr>
            <p:spPr>
              <a:xfrm>
                <a:off x="381000" y="53271"/>
                <a:ext cx="4000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A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9247B4B8-B62B-489D-98C5-0E7EC15BC690}"/>
                  </a:ext>
                </a:extLst>
              </p:cNvPr>
              <p:cNvSpPr txBox="1"/>
              <p:nvPr/>
            </p:nvSpPr>
            <p:spPr>
              <a:xfrm>
                <a:off x="3556086" y="53271"/>
                <a:ext cx="4000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B</a:t>
                </a: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9877A4E2-1CAD-4B1B-89BF-8A3602ED8B7A}"/>
                  </a:ext>
                </a:extLst>
              </p:cNvPr>
              <p:cNvSpPr txBox="1"/>
              <p:nvPr/>
            </p:nvSpPr>
            <p:spPr>
              <a:xfrm>
                <a:off x="6731172" y="53271"/>
                <a:ext cx="4000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C</a:t>
                </a:r>
              </a:p>
            </p:txBody>
          </p: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12601429-E606-401F-946C-F493C7A006AD}"/>
                </a:ext>
              </a:extLst>
            </p:cNvPr>
            <p:cNvGrpSpPr/>
            <p:nvPr/>
          </p:nvGrpSpPr>
          <p:grpSpPr>
            <a:xfrm>
              <a:off x="832413" y="3431297"/>
              <a:ext cx="11247827" cy="5106574"/>
              <a:chOff x="278445" y="693953"/>
              <a:chExt cx="11247827" cy="5106574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B4933699-1493-4D12-BA2E-352294A44238}"/>
                  </a:ext>
                </a:extLst>
              </p:cNvPr>
              <p:cNvGrpSpPr/>
              <p:nvPr/>
            </p:nvGrpSpPr>
            <p:grpSpPr>
              <a:xfrm>
                <a:off x="426406" y="1238053"/>
                <a:ext cx="11099866" cy="4562474"/>
                <a:chOff x="378781" y="580828"/>
                <a:chExt cx="11099866" cy="4562474"/>
              </a:xfrm>
            </p:grpSpPr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4CEB7E7-14BB-429A-8011-54B086D249BF}"/>
                    </a:ext>
                  </a:extLst>
                </p:cNvPr>
                <p:cNvGrpSpPr/>
                <p:nvPr/>
              </p:nvGrpSpPr>
              <p:grpSpPr>
                <a:xfrm>
                  <a:off x="378781" y="580828"/>
                  <a:ext cx="2367480" cy="4552950"/>
                  <a:chOff x="378781" y="581025"/>
                  <a:chExt cx="2367480" cy="4552950"/>
                </a:xfrm>
              </p:grpSpPr>
              <p:grpSp>
                <p:nvGrpSpPr>
                  <p:cNvPr id="65" name="Group 64">
                    <a:extLst>
                      <a:ext uri="{FF2B5EF4-FFF2-40B4-BE49-F238E27FC236}">
                        <a16:creationId xmlns:a16="http://schemas.microsoft.com/office/drawing/2014/main" id="{8679CE4A-C026-49AA-A5A6-5D253F6395BF}"/>
                      </a:ext>
                    </a:extLst>
                  </p:cNvPr>
                  <p:cNvGrpSpPr/>
                  <p:nvPr/>
                </p:nvGrpSpPr>
                <p:grpSpPr>
                  <a:xfrm>
                    <a:off x="378782" y="581025"/>
                    <a:ext cx="2367479" cy="4462254"/>
                    <a:chOff x="378782" y="581025"/>
                    <a:chExt cx="2367479" cy="4462254"/>
                  </a:xfrm>
                </p:grpSpPr>
                <p:sp>
                  <p:nvSpPr>
                    <p:cNvPr id="67" name="Rectangle 66">
                      <a:extLst>
                        <a:ext uri="{FF2B5EF4-FFF2-40B4-BE49-F238E27FC236}">
                          <a16:creationId xmlns:a16="http://schemas.microsoft.com/office/drawing/2014/main" id="{FB43EA46-AA10-4754-BCF8-F70FF3B938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9760" y="581025"/>
                      <a:ext cx="1447800" cy="3400425"/>
                    </a:xfrm>
                    <a:prstGeom prst="rect">
                      <a:avLst/>
                    </a:prstGeom>
                    <a:effectLst>
                      <a:glow rad="63500">
                        <a:schemeClr val="accent3">
                          <a:satMod val="175000"/>
                          <a:alpha val="40000"/>
                        </a:schemeClr>
                      </a:glow>
                    </a:effectLst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68" name="Rectangle 67">
                      <a:extLst>
                        <a:ext uri="{FF2B5EF4-FFF2-40B4-BE49-F238E27FC236}">
                          <a16:creationId xmlns:a16="http://schemas.microsoft.com/office/drawing/2014/main" id="{FD399782-4C15-49A1-A439-445436FB5E0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8782" y="2025244"/>
                      <a:ext cx="1944210" cy="190106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  <a:effectLst>
                      <a:glow rad="50800">
                        <a:srgbClr val="002060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9" name="Rectangle 68">
                      <a:extLst>
                        <a:ext uri="{FF2B5EF4-FFF2-40B4-BE49-F238E27FC236}">
                          <a16:creationId xmlns:a16="http://schemas.microsoft.com/office/drawing/2014/main" id="{41E56159-8E7B-4559-87C7-31CC34F918B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8782" y="2857303"/>
                      <a:ext cx="1944210" cy="190106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solidFill>
                        <a:srgbClr val="FF0000"/>
                      </a:solidFill>
                    </a:ln>
                    <a:effectLst>
                      <a:glow rad="50800">
                        <a:srgbClr val="C00000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70" name="Rectangle 69">
                      <a:extLst>
                        <a:ext uri="{FF2B5EF4-FFF2-40B4-BE49-F238E27FC236}">
                          <a16:creationId xmlns:a16="http://schemas.microsoft.com/office/drawing/2014/main" id="{D4714997-797B-40DE-A633-39D4630876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8782" y="906056"/>
                      <a:ext cx="1944210" cy="190106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>
                      <a:solidFill>
                        <a:srgbClr val="1A7402"/>
                      </a:solidFill>
                    </a:ln>
                    <a:effectLst>
                      <a:glow rad="50800">
                        <a:srgbClr val="1A7402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71" name="TextBox 70">
                          <a:extLst>
                            <a:ext uri="{FF2B5EF4-FFF2-40B4-BE49-F238E27FC236}">
                              <a16:creationId xmlns:a16="http://schemas.microsoft.com/office/drawing/2014/main" id="{7FE88B4E-8E23-4422-BBB7-0EC336E13C8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401679" y="868547"/>
                          <a:ext cx="344582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b="1" dirty="0"/>
                        </a:p>
                      </p:txBody>
                    </p:sp>
                  </mc:Choice>
                  <mc:Fallback>
                    <p:sp>
                      <p:nvSpPr>
                        <p:cNvPr id="71" name="TextBox 70">
                          <a:extLst>
                            <a:ext uri="{FF2B5EF4-FFF2-40B4-BE49-F238E27FC236}">
                              <a16:creationId xmlns:a16="http://schemas.microsoft.com/office/drawing/2014/main" id="{7FE88B4E-8E23-4422-BBB7-0EC336E13C8B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401679" y="868547"/>
                          <a:ext cx="344582" cy="276999"/>
                        </a:xfrm>
                        <a:prstGeom prst="rect">
                          <a:avLst/>
                        </a:prstGeom>
                        <a:blipFill>
                          <a:blip r:embed="rId8"/>
                          <a:stretch>
                            <a:fillRect l="-16071" r="-8929" b="-1521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72" name="TextBox 71">
                      <a:extLst>
                        <a:ext uri="{FF2B5EF4-FFF2-40B4-BE49-F238E27FC236}">
                          <a16:creationId xmlns:a16="http://schemas.microsoft.com/office/drawing/2014/main" id="{CF65450E-BF36-4D01-A447-4FF72B095E97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78782" y="4119949"/>
                      <a:ext cx="2022897" cy="92333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dirty="0"/>
                        <a:t>No difference between realised and optimal result</a:t>
                      </a:r>
                    </a:p>
                  </p:txBody>
                </p:sp>
              </p:grpSp>
              <p:sp>
                <p:nvSpPr>
                  <p:cNvPr id="66" name="Rectangle 65">
                    <a:extLst>
                      <a:ext uri="{FF2B5EF4-FFF2-40B4-BE49-F238E27FC236}">
                        <a16:creationId xmlns:a16="http://schemas.microsoft.com/office/drawing/2014/main" id="{D1071579-2504-4ED6-A4F9-E587232FB1FB}"/>
                      </a:ext>
                    </a:extLst>
                  </p:cNvPr>
                  <p:cNvSpPr/>
                  <p:nvPr/>
                </p:nvSpPr>
                <p:spPr>
                  <a:xfrm>
                    <a:off x="378781" y="3981450"/>
                    <a:ext cx="2367479" cy="1152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E13B365E-3572-49E1-BC4E-61E1ED82102B}"/>
                    </a:ext>
                  </a:extLst>
                </p:cNvPr>
                <p:cNvGrpSpPr/>
                <p:nvPr/>
              </p:nvGrpSpPr>
              <p:grpSpPr>
                <a:xfrm>
                  <a:off x="3273409" y="580828"/>
                  <a:ext cx="2367479" cy="4552950"/>
                  <a:chOff x="3048977" y="581025"/>
                  <a:chExt cx="2367479" cy="4552950"/>
                </a:xfrm>
              </p:grpSpPr>
              <p:grpSp>
                <p:nvGrpSpPr>
                  <p:cNvPr id="57" name="Group 56">
                    <a:extLst>
                      <a:ext uri="{FF2B5EF4-FFF2-40B4-BE49-F238E27FC236}">
                        <a16:creationId xmlns:a16="http://schemas.microsoft.com/office/drawing/2014/main" id="{FBA1D38C-53A7-464D-B0A3-DD1730D06856}"/>
                      </a:ext>
                    </a:extLst>
                  </p:cNvPr>
                  <p:cNvGrpSpPr/>
                  <p:nvPr/>
                </p:nvGrpSpPr>
                <p:grpSpPr>
                  <a:xfrm>
                    <a:off x="3048977" y="581025"/>
                    <a:ext cx="2367479" cy="4218405"/>
                    <a:chOff x="3048977" y="581025"/>
                    <a:chExt cx="2367479" cy="4218405"/>
                  </a:xfrm>
                </p:grpSpPr>
                <p:sp>
                  <p:nvSpPr>
                    <p:cNvPr id="59" name="Rectangle 58">
                      <a:extLst>
                        <a:ext uri="{FF2B5EF4-FFF2-40B4-BE49-F238E27FC236}">
                          <a16:creationId xmlns:a16="http://schemas.microsoft.com/office/drawing/2014/main" id="{638F1503-39C4-4591-A4EE-968BFE2809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299955" y="581025"/>
                      <a:ext cx="1447800" cy="3400425"/>
                    </a:xfrm>
                    <a:prstGeom prst="rect">
                      <a:avLst/>
                    </a:prstGeom>
                    <a:effectLst>
                      <a:glow rad="63500">
                        <a:schemeClr val="accent3">
                          <a:satMod val="175000"/>
                          <a:alpha val="40000"/>
                        </a:schemeClr>
                      </a:glow>
                    </a:effectLst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60" name="Rectangle 59">
                      <a:extLst>
                        <a:ext uri="{FF2B5EF4-FFF2-40B4-BE49-F238E27FC236}">
                          <a16:creationId xmlns:a16="http://schemas.microsoft.com/office/drawing/2014/main" id="{ABC7C695-F71E-43BC-8CF9-C82F4B06C4D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8977" y="2025244"/>
                      <a:ext cx="1944210" cy="190106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  <a:effectLst>
                      <a:glow rad="50800">
                        <a:srgbClr val="002060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1" name="Rectangle 60">
                      <a:extLst>
                        <a:ext uri="{FF2B5EF4-FFF2-40B4-BE49-F238E27FC236}">
                          <a16:creationId xmlns:a16="http://schemas.microsoft.com/office/drawing/2014/main" id="{D96FD9CA-27B8-436D-B027-D3F7B687ED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8977" y="1438098"/>
                      <a:ext cx="1944210" cy="209117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solidFill>
                        <a:srgbClr val="FF0000"/>
                      </a:solidFill>
                    </a:ln>
                    <a:effectLst>
                      <a:glow rad="50800">
                        <a:srgbClr val="C00000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62" name="Rectangle 61">
                      <a:extLst>
                        <a:ext uri="{FF2B5EF4-FFF2-40B4-BE49-F238E27FC236}">
                          <a16:creationId xmlns:a16="http://schemas.microsoft.com/office/drawing/2014/main" id="{3B3E37EC-5605-4828-BE9B-5FB83D46933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048977" y="906056"/>
                      <a:ext cx="1944210" cy="190106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>
                      <a:solidFill>
                        <a:srgbClr val="1A7402"/>
                      </a:solidFill>
                    </a:ln>
                    <a:effectLst>
                      <a:glow rad="50800">
                        <a:srgbClr val="1A7402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63" name="TextBox 62">
                          <a:extLst>
                            <a:ext uri="{FF2B5EF4-FFF2-40B4-BE49-F238E27FC236}">
                              <a16:creationId xmlns:a16="http://schemas.microsoft.com/office/drawing/2014/main" id="{9E06936A-3B41-42B3-A94D-71AC5D5186F8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5071874" y="868547"/>
                          <a:ext cx="344582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𝑯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b="1" dirty="0"/>
                        </a:p>
                      </p:txBody>
                    </p:sp>
                  </mc:Choice>
                  <mc:Fallback>
                    <p:sp>
                      <p:nvSpPr>
                        <p:cNvPr id="63" name="TextBox 62">
                          <a:extLst>
                            <a:ext uri="{FF2B5EF4-FFF2-40B4-BE49-F238E27FC236}">
                              <a16:creationId xmlns:a16="http://schemas.microsoft.com/office/drawing/2014/main" id="{9E06936A-3B41-42B3-A94D-71AC5D5186F8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5071874" y="868547"/>
                          <a:ext cx="344582" cy="276999"/>
                        </a:xfrm>
                        <a:prstGeom prst="rect">
                          <a:avLst/>
                        </a:prstGeom>
                        <a:blipFill>
                          <a:blip r:embed="rId9"/>
                          <a:stretch>
                            <a:fillRect l="-16071" r="-8929" b="-1521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64" name="TextBox 63">
                          <a:extLst>
                            <a:ext uri="{FF2B5EF4-FFF2-40B4-BE49-F238E27FC236}">
                              <a16:creationId xmlns:a16="http://schemas.microsoft.com/office/drawing/2014/main" id="{49394FF3-D7A5-4412-B625-809F8CCC43D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3048978" y="4119949"/>
                          <a:ext cx="2367478" cy="679481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GB" dirty="0"/>
                            <a:t>Subject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dirty="0"/>
                            <a:t> overpays by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endParaRPr lang="en-GB" b="1" dirty="0"/>
                        </a:p>
                      </p:txBody>
                    </p:sp>
                  </mc:Choice>
                  <mc:Fallback>
                    <p:sp>
                      <p:nvSpPr>
                        <p:cNvPr id="64" name="TextBox 63">
                          <a:extLst>
                            <a:ext uri="{FF2B5EF4-FFF2-40B4-BE49-F238E27FC236}">
                              <a16:creationId xmlns:a16="http://schemas.microsoft.com/office/drawing/2014/main" id="{49394FF3-D7A5-4412-B625-809F8CCC43D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3048978" y="4119949"/>
                          <a:ext cx="2367478" cy="679481"/>
                        </a:xfrm>
                        <a:prstGeom prst="rect">
                          <a:avLst/>
                        </a:prstGeom>
                        <a:blipFill>
                          <a:blip r:embed="rId10"/>
                          <a:stretch>
                            <a:fillRect l="-2320" t="-5405" r="-232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58" name="Rectangle 57">
                    <a:extLst>
                      <a:ext uri="{FF2B5EF4-FFF2-40B4-BE49-F238E27FC236}">
                        <a16:creationId xmlns:a16="http://schemas.microsoft.com/office/drawing/2014/main" id="{19B8591E-0D86-4799-BE06-DFBCCBD77C13}"/>
                      </a:ext>
                    </a:extLst>
                  </p:cNvPr>
                  <p:cNvSpPr/>
                  <p:nvPr/>
                </p:nvSpPr>
                <p:spPr>
                  <a:xfrm>
                    <a:off x="3048977" y="3981450"/>
                    <a:ext cx="2367479" cy="1152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85EBDED4-A73D-445F-8B45-72AE197BCC9E}"/>
                    </a:ext>
                  </a:extLst>
                </p:cNvPr>
                <p:cNvGrpSpPr/>
                <p:nvPr/>
              </p:nvGrpSpPr>
              <p:grpSpPr>
                <a:xfrm>
                  <a:off x="6168036" y="580828"/>
                  <a:ext cx="2415983" cy="4559483"/>
                  <a:chOff x="6157057" y="581025"/>
                  <a:chExt cx="2415983" cy="4559483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2F4F869E-43CB-4655-91B3-90E209A60A71}"/>
                      </a:ext>
                    </a:extLst>
                  </p:cNvPr>
                  <p:cNvGrpSpPr/>
                  <p:nvPr/>
                </p:nvGrpSpPr>
                <p:grpSpPr>
                  <a:xfrm>
                    <a:off x="6157057" y="581025"/>
                    <a:ext cx="2339198" cy="4462254"/>
                    <a:chOff x="6157057" y="581025"/>
                    <a:chExt cx="2339198" cy="4462254"/>
                  </a:xfrm>
                </p:grpSpPr>
                <p:sp>
                  <p:nvSpPr>
                    <p:cNvPr id="51" name="Rectangle 50">
                      <a:extLst>
                        <a:ext uri="{FF2B5EF4-FFF2-40B4-BE49-F238E27FC236}">
                          <a16:creationId xmlns:a16="http://schemas.microsoft.com/office/drawing/2014/main" id="{3D135D94-2FC6-4ABB-BB1F-3ADACC3E2F8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59904" y="581025"/>
                      <a:ext cx="1447800" cy="3400425"/>
                    </a:xfrm>
                    <a:prstGeom prst="rect">
                      <a:avLst/>
                    </a:prstGeom>
                    <a:effectLst>
                      <a:glow rad="63500">
                        <a:schemeClr val="accent3">
                          <a:satMod val="175000"/>
                          <a:alpha val="40000"/>
                        </a:schemeClr>
                      </a:glow>
                    </a:effectLst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52" name="Rectangle 51">
                      <a:extLst>
                        <a:ext uri="{FF2B5EF4-FFF2-40B4-BE49-F238E27FC236}">
                          <a16:creationId xmlns:a16="http://schemas.microsoft.com/office/drawing/2014/main" id="{C1539A04-E208-4127-8364-9BD222D0C15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08926" y="2025244"/>
                      <a:ext cx="1944210" cy="190106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  <a:effectLst>
                      <a:glow rad="50800">
                        <a:srgbClr val="002060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3" name="Rectangle 52">
                      <a:extLst>
                        <a:ext uri="{FF2B5EF4-FFF2-40B4-BE49-F238E27FC236}">
                          <a16:creationId xmlns:a16="http://schemas.microsoft.com/office/drawing/2014/main" id="{FFC7B9D0-BDA7-4E00-9217-E69DE09EA6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08926" y="1133278"/>
                      <a:ext cx="1944210" cy="190106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solidFill>
                        <a:srgbClr val="FF0000"/>
                      </a:solidFill>
                    </a:ln>
                    <a:effectLst>
                      <a:glow rad="50800">
                        <a:srgbClr val="C00000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54" name="Rectangle 53">
                      <a:extLst>
                        <a:ext uri="{FF2B5EF4-FFF2-40B4-BE49-F238E27FC236}">
                          <a16:creationId xmlns:a16="http://schemas.microsoft.com/office/drawing/2014/main" id="{EDF13B8C-16BC-4F23-9282-ADBB99206E8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08926" y="3430181"/>
                      <a:ext cx="1944210" cy="190106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>
                      <a:solidFill>
                        <a:srgbClr val="1A7402"/>
                      </a:solidFill>
                    </a:ln>
                    <a:effectLst>
                      <a:glow rad="50800">
                        <a:srgbClr val="1A7402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55" name="TextBox 54">
                          <a:extLst>
                            <a:ext uri="{FF2B5EF4-FFF2-40B4-BE49-F238E27FC236}">
                              <a16:creationId xmlns:a16="http://schemas.microsoft.com/office/drawing/2014/main" id="{3AC98D01-C18B-4FBC-AD0F-E037B4E7F29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8231823" y="3392672"/>
                          <a:ext cx="264431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b="1" dirty="0"/>
                        </a:p>
                      </p:txBody>
                    </p:sp>
                  </mc:Choice>
                  <mc:Fallback>
                    <p:sp>
                      <p:nvSpPr>
                        <p:cNvPr id="55" name="TextBox 54">
                          <a:extLst>
                            <a:ext uri="{FF2B5EF4-FFF2-40B4-BE49-F238E27FC236}">
                              <a16:creationId xmlns:a16="http://schemas.microsoft.com/office/drawing/2014/main" id="{3AC98D01-C18B-4FBC-AD0F-E037B4E7F29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8231823" y="3392672"/>
                          <a:ext cx="264431" cy="276999"/>
                        </a:xfrm>
                        <a:prstGeom prst="rect">
                          <a:avLst/>
                        </a:prstGeom>
                        <a:blipFill>
                          <a:blip r:embed="rId11"/>
                          <a:stretch>
                            <a:fillRect l="-23256" r="-11628" b="-1521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p:sp>
                  <p:nvSpPr>
                    <p:cNvPr id="56" name="TextBox 55">
                      <a:extLst>
                        <a:ext uri="{FF2B5EF4-FFF2-40B4-BE49-F238E27FC236}">
                          <a16:creationId xmlns:a16="http://schemas.microsoft.com/office/drawing/2014/main" id="{01533183-D7B7-4AF5-BF7A-31B3AFB2506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157057" y="4119949"/>
                      <a:ext cx="2339198" cy="92333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r>
                        <a:rPr lang="en-GB" dirty="0"/>
                        <a:t>No difference between realised and optimal result</a:t>
                      </a:r>
                    </a:p>
                  </p:txBody>
                </p:sp>
              </p:grpSp>
              <p:sp>
                <p:nvSpPr>
                  <p:cNvPr id="50" name="Rectangle 49">
                    <a:extLst>
                      <a:ext uri="{FF2B5EF4-FFF2-40B4-BE49-F238E27FC236}">
                        <a16:creationId xmlns:a16="http://schemas.microsoft.com/office/drawing/2014/main" id="{8BF7940C-F13A-4AF8-A997-7B0E7EBB3CB9}"/>
                      </a:ext>
                    </a:extLst>
                  </p:cNvPr>
                  <p:cNvSpPr/>
                  <p:nvPr/>
                </p:nvSpPr>
                <p:spPr>
                  <a:xfrm>
                    <a:off x="6205561" y="3987983"/>
                    <a:ext cx="2367479" cy="1152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B5C9F0A5-2613-4FA7-BA9E-8B90B3EF8029}"/>
                    </a:ext>
                  </a:extLst>
                </p:cNvPr>
                <p:cNvGrpSpPr/>
                <p:nvPr/>
              </p:nvGrpSpPr>
              <p:grpSpPr>
                <a:xfrm>
                  <a:off x="9111168" y="580828"/>
                  <a:ext cx="2367479" cy="4562474"/>
                  <a:chOff x="9111168" y="581025"/>
                  <a:chExt cx="2367479" cy="4562474"/>
                </a:xfrm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8B0FD439-06BC-4729-B4D3-11E2801FEF3F}"/>
                      </a:ext>
                    </a:extLst>
                  </p:cNvPr>
                  <p:cNvGrpSpPr/>
                  <p:nvPr/>
                </p:nvGrpSpPr>
                <p:grpSpPr>
                  <a:xfrm>
                    <a:off x="9111168" y="581025"/>
                    <a:ext cx="2287329" cy="4471552"/>
                    <a:chOff x="9111168" y="581025"/>
                    <a:chExt cx="2287329" cy="4471552"/>
                  </a:xfrm>
                </p:grpSpPr>
                <p:sp>
                  <p:nvSpPr>
                    <p:cNvPr id="43" name="Rectangle 42">
                      <a:extLst>
                        <a:ext uri="{FF2B5EF4-FFF2-40B4-BE49-F238E27FC236}">
                          <a16:creationId xmlns:a16="http://schemas.microsoft.com/office/drawing/2014/main" id="{0547BE25-8706-4002-ADFA-880EED64B3A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362146" y="581025"/>
                      <a:ext cx="1447800" cy="3400425"/>
                    </a:xfrm>
                    <a:prstGeom prst="rect">
                      <a:avLst/>
                    </a:prstGeom>
                    <a:effectLst>
                      <a:glow rad="63500">
                        <a:schemeClr val="accent3">
                          <a:satMod val="175000"/>
                          <a:alpha val="40000"/>
                        </a:schemeClr>
                      </a:glow>
                    </a:effectLst>
                  </p:spPr>
                  <p:style>
                    <a:lnRef idx="2">
                      <a:schemeClr val="accent3">
                        <a:shade val="50000"/>
                      </a:schemeClr>
                    </a:lnRef>
                    <a:fillRef idx="1">
                      <a:schemeClr val="accent3"/>
                    </a:fillRef>
                    <a:effectRef idx="0">
                      <a:schemeClr val="accent3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/>
                    </a:p>
                  </p:txBody>
                </p:sp>
                <p:sp>
                  <p:nvSpPr>
                    <p:cNvPr id="44" name="Rectangle 43">
                      <a:extLst>
                        <a:ext uri="{FF2B5EF4-FFF2-40B4-BE49-F238E27FC236}">
                          <a16:creationId xmlns:a16="http://schemas.microsoft.com/office/drawing/2014/main" id="{26C6D069-732C-4AA8-8703-D0572489ED6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11168" y="2025244"/>
                      <a:ext cx="1944210" cy="190106"/>
                    </a:xfrm>
                    <a:prstGeom prst="rect">
                      <a:avLst/>
                    </a:prstGeom>
                    <a:solidFill>
                      <a:srgbClr val="00B0F0"/>
                    </a:solidFill>
                    <a:effectLst>
                      <a:glow rad="50800">
                        <a:srgbClr val="002060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5" name="Rectangle 44">
                      <a:extLst>
                        <a:ext uri="{FF2B5EF4-FFF2-40B4-BE49-F238E27FC236}">
                          <a16:creationId xmlns:a16="http://schemas.microsoft.com/office/drawing/2014/main" id="{4B590FD3-8846-460C-B09B-9DD4C3155E3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11168" y="2647753"/>
                      <a:ext cx="1944210" cy="190106"/>
                    </a:xfrm>
                    <a:prstGeom prst="rect">
                      <a:avLst/>
                    </a:prstGeom>
                    <a:solidFill>
                      <a:schemeClr val="accent2"/>
                    </a:solidFill>
                    <a:ln>
                      <a:solidFill>
                        <a:srgbClr val="FF0000"/>
                      </a:solidFill>
                    </a:ln>
                    <a:effectLst>
                      <a:glow rad="50800">
                        <a:srgbClr val="C00000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  <p:sp>
                  <p:nvSpPr>
                    <p:cNvPr id="46" name="Rectangle 45">
                      <a:extLst>
                        <a:ext uri="{FF2B5EF4-FFF2-40B4-BE49-F238E27FC236}">
                          <a16:creationId xmlns:a16="http://schemas.microsoft.com/office/drawing/2014/main" id="{FB6868F4-0577-42D4-B8AB-1DB8270D19B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111168" y="3430181"/>
                      <a:ext cx="1944210" cy="190106"/>
                    </a:xfrm>
                    <a:prstGeom prst="rect">
                      <a:avLst/>
                    </a:prstGeom>
                    <a:solidFill>
                      <a:srgbClr val="00B050"/>
                    </a:solidFill>
                    <a:ln>
                      <a:solidFill>
                        <a:srgbClr val="1A7402"/>
                      </a:solidFill>
                    </a:ln>
                    <a:effectLst>
                      <a:glow rad="50800">
                        <a:srgbClr val="1A7402"/>
                      </a:glow>
                    </a:effectLst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dirty="0">
                        <a:solidFill>
                          <a:schemeClr val="tx1"/>
                        </a:solidFill>
                      </a:endParaRPr>
                    </a:p>
                  </p:txBody>
                </p:sp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47" name="TextBox 46">
                          <a:extLst>
                            <a:ext uri="{FF2B5EF4-FFF2-40B4-BE49-F238E27FC236}">
                              <a16:creationId xmlns:a16="http://schemas.microsoft.com/office/drawing/2014/main" id="{5D8D1296-D3E9-4084-97F3-C39E3E760BC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1134065" y="3392672"/>
                          <a:ext cx="264431" cy="276999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lIns="0" tIns="0" rIns="0" bIns="0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𝑰</m:t>
                                    </m:r>
                                  </m:e>
                                  <m:sub>
                                    <m:r>
                                      <a:rPr lang="en-GB" b="1" i="1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b="1" dirty="0"/>
                        </a:p>
                      </p:txBody>
                    </p:sp>
                  </mc:Choice>
                  <mc:Fallback>
                    <p:sp>
                      <p:nvSpPr>
                        <p:cNvPr id="47" name="TextBox 46">
                          <a:extLst>
                            <a:ext uri="{FF2B5EF4-FFF2-40B4-BE49-F238E27FC236}">
                              <a16:creationId xmlns:a16="http://schemas.microsoft.com/office/drawing/2014/main" id="{5D8D1296-D3E9-4084-97F3-C39E3E760BC6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1134065" y="3392672"/>
                          <a:ext cx="264431" cy="276999"/>
                        </a:xfrm>
                        <a:prstGeom prst="rect">
                          <a:avLst/>
                        </a:prstGeom>
                        <a:blipFill>
                          <a:blip r:embed="rId12"/>
                          <a:stretch>
                            <a:fillRect l="-20455" r="-9091" b="-1521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>
                  <mc:Choice xmlns:a14="http://schemas.microsoft.com/office/drawing/2010/main" Requires="a14">
                    <p:sp>
                      <p:nvSpPr>
                        <p:cNvPr id="48" name="TextBox 47">
                          <a:extLst>
                            <a:ext uri="{FF2B5EF4-FFF2-40B4-BE49-F238E27FC236}">
                              <a16:creationId xmlns:a16="http://schemas.microsoft.com/office/drawing/2014/main" id="{65BBEE85-D930-41E0-AA72-5E504F18D1A9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9111169" y="4119949"/>
                          <a:ext cx="2287328" cy="932628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r>
                            <a:rPr lang="en-GB" dirty="0"/>
                            <a:t>Subject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</m:oMath>
                          </a14:m>
                          <a:r>
                            <a:rPr lang="en-GB" dirty="0"/>
                            <a:t> misses opportunity to make profit of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𝑮</m:t>
                                  </m:r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𝟏</m:t>
                                  </m:r>
                                </m:sub>
                              </m:sSub>
                              <m:r>
                                <a:rPr lang="en-GB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̂"/>
                                      <m:ctrlP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GB" b="1" i="1" smtClean="0">
                                          <a:latin typeface="Cambria Math" panose="02040503050406030204" pitchFamily="18" charset="0"/>
                                        </a:rPr>
                                        <m:t>𝑮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GB" b="1" i="1" smtClean="0">
                                      <a:latin typeface="Cambria Math" panose="02040503050406030204" pitchFamily="18" charset="0"/>
                                    </a:rPr>
                                    <m:t>𝒏</m:t>
                                  </m:r>
                                </m:sub>
                              </m:sSub>
                            </m:oMath>
                          </a14:m>
                          <a:endParaRPr lang="en-GB" b="1" dirty="0"/>
                        </a:p>
                      </p:txBody>
                    </p:sp>
                  </mc:Choice>
                  <mc:Fallback>
                    <p:sp>
                      <p:nvSpPr>
                        <p:cNvPr id="48" name="TextBox 47">
                          <a:extLst>
                            <a:ext uri="{FF2B5EF4-FFF2-40B4-BE49-F238E27FC236}">
                              <a16:creationId xmlns:a16="http://schemas.microsoft.com/office/drawing/2014/main" id="{65BBEE85-D930-41E0-AA72-5E504F18D1A9}"/>
                            </a:ext>
                          </a:extLst>
                        </p:cNvPr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9111169" y="4119949"/>
                          <a:ext cx="2287328" cy="932628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 l="-2128" t="-3922" b="-9804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GB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sp>
                <p:nvSpPr>
                  <p:cNvPr id="42" name="Rectangle 41">
                    <a:extLst>
                      <a:ext uri="{FF2B5EF4-FFF2-40B4-BE49-F238E27FC236}">
                        <a16:creationId xmlns:a16="http://schemas.microsoft.com/office/drawing/2014/main" id="{3DF324C4-70DC-4DDC-95C8-801BC22098F8}"/>
                      </a:ext>
                    </a:extLst>
                  </p:cNvPr>
                  <p:cNvSpPr/>
                  <p:nvPr/>
                </p:nvSpPr>
                <p:spPr>
                  <a:xfrm>
                    <a:off x="9111168" y="3990974"/>
                    <a:ext cx="2367479" cy="115252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/>
                  </a:p>
                </p:txBody>
              </p:sp>
            </p:grp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E2168DD-6425-4748-83D0-850D748DE8C1}"/>
                  </a:ext>
                </a:extLst>
              </p:cNvPr>
              <p:cNvSpPr txBox="1"/>
              <p:nvPr/>
            </p:nvSpPr>
            <p:spPr>
              <a:xfrm>
                <a:off x="278445" y="693953"/>
                <a:ext cx="4000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D</a:t>
                </a: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6A2926F-F22E-4264-B8A5-7FB02F30CB3B}"/>
                  </a:ext>
                </a:extLst>
              </p:cNvPr>
              <p:cNvSpPr txBox="1"/>
              <p:nvPr/>
            </p:nvSpPr>
            <p:spPr>
              <a:xfrm>
                <a:off x="3188870" y="693953"/>
                <a:ext cx="4000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E</a:t>
                </a:r>
              </a:p>
            </p:txBody>
          </p:sp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22F3D7C-D2DF-4F8E-B510-60D3362F9EA3}"/>
                  </a:ext>
                </a:extLst>
              </p:cNvPr>
              <p:cNvSpPr txBox="1"/>
              <p:nvPr/>
            </p:nvSpPr>
            <p:spPr>
              <a:xfrm>
                <a:off x="6099295" y="693953"/>
                <a:ext cx="4000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F</a:t>
                </a:r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F4BA9CE-CBDF-4B21-BBE3-8AB85446DBE7}"/>
                  </a:ext>
                </a:extLst>
              </p:cNvPr>
              <p:cNvSpPr txBox="1"/>
              <p:nvPr/>
            </p:nvSpPr>
            <p:spPr>
              <a:xfrm>
                <a:off x="9009721" y="693953"/>
                <a:ext cx="400050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2800" b="1" dirty="0"/>
                  <a:t>G</a:t>
                </a:r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D3516F6-D2BA-47A1-9025-B2AFD6FF3644}"/>
                    </a:ext>
                  </a:extLst>
                </p:cNvPr>
                <p:cNvSpPr txBox="1"/>
                <p:nvPr/>
              </p:nvSpPr>
              <p:spPr>
                <a:xfrm>
                  <a:off x="832413" y="2971130"/>
                  <a:ext cx="11628485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3200" b="1" dirty="0"/>
                    <a:t>Scenarios where subject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GB" sz="3200" b="1" dirty="0"/>
                    <a:t>does not make their optimal bid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GB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GB" sz="3200" b="1" dirty="0"/>
                    <a:t> </a:t>
                  </a:r>
                </a:p>
              </p:txBody>
            </p:sp>
          </mc:Choice>
          <mc:Fallback>
            <p:sp>
              <p:nvSpPr>
                <p:cNvPr id="74" name="TextBox 73">
                  <a:extLst>
                    <a:ext uri="{FF2B5EF4-FFF2-40B4-BE49-F238E27FC236}">
                      <a16:creationId xmlns:a16="http://schemas.microsoft.com/office/drawing/2014/main" id="{BD3516F6-D2BA-47A1-9025-B2AFD6FF364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413" y="2971130"/>
                  <a:ext cx="11628485" cy="584775"/>
                </a:xfrm>
                <a:prstGeom prst="rect">
                  <a:avLst/>
                </a:prstGeom>
                <a:blipFill>
                  <a:blip r:embed="rId14"/>
                  <a:stretch>
                    <a:fillRect l="-1363" t="-12500" b="-3437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14C8650-A68A-4360-89B2-CFB449EDF4C0}"/>
                    </a:ext>
                  </a:extLst>
                </p:cNvPr>
                <p:cNvSpPr txBox="1"/>
                <p:nvPr/>
              </p:nvSpPr>
              <p:spPr>
                <a:xfrm>
                  <a:off x="832413" y="-3185278"/>
                  <a:ext cx="11628485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GB" sz="3200" b="1" dirty="0"/>
                    <a:t>Scenarios where subject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</m:e>
                        <m:sub>
                          <m:r>
                            <a:rPr lang="en-GB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GB" sz="3200" b="1" dirty="0"/>
                    <a:t>bids their true utility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GB" sz="32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3200" b="1" i="1" smtClean="0">
                              <a:latin typeface="Cambria Math" panose="02040503050406030204" pitchFamily="18" charset="0"/>
                            </a:rPr>
                            <m:t>𝑮</m:t>
                          </m:r>
                        </m:e>
                        <m:sub>
                          <m:r>
                            <a:rPr lang="en-GB" sz="32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a14:m>
                  <a:r>
                    <a:rPr lang="en-GB" sz="3200" b="1" dirty="0"/>
                    <a:t> </a:t>
                  </a:r>
                </a:p>
              </p:txBody>
            </p:sp>
          </mc:Choice>
          <mc:Fallback>
            <p:sp>
              <p:nvSpPr>
                <p:cNvPr id="76" name="TextBox 75">
                  <a:extLst>
                    <a:ext uri="{FF2B5EF4-FFF2-40B4-BE49-F238E27FC236}">
                      <a16:creationId xmlns:a16="http://schemas.microsoft.com/office/drawing/2014/main" id="{614C8650-A68A-4360-89B2-CFB449EDF4C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32413" y="-3185278"/>
                  <a:ext cx="11628485" cy="584775"/>
                </a:xfrm>
                <a:prstGeom prst="rect">
                  <a:avLst/>
                </a:prstGeom>
                <a:blipFill>
                  <a:blip r:embed="rId15"/>
                  <a:stretch>
                    <a:fillRect l="-1363" t="-12500" b="-34375"/>
                  </a:stretch>
                </a:blipFill>
              </p:spPr>
              <p:txBody>
                <a:bodyPr/>
                <a:lstStyle/>
                <a:p>
                  <a:r>
                    <a:rPr lang="en-GB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321860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1633</TotalTime>
  <Words>170</Words>
  <Application>Microsoft Office PowerPoint</Application>
  <PresentationFormat>Widescreen</PresentationFormat>
  <Paragraphs>44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dfh27</dc:creator>
  <cp:lastModifiedBy>dfh27</cp:lastModifiedBy>
  <cp:revision>9</cp:revision>
  <dcterms:created xsi:type="dcterms:W3CDTF">2020-11-04T13:19:58Z</dcterms:created>
  <dcterms:modified xsi:type="dcterms:W3CDTF">2020-11-05T16:33:54Z</dcterms:modified>
</cp:coreProperties>
</file>